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927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to the practical session after the networking lecture. Everyone opens a simulated packet analyzer in the browser, no installs or logins. Frame it as a forensics case: the packets are evidence, and they are the investigators.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like a case briefing. The capture is a real-looking set of packets telling one story. They will follow the evidence to a single packet that proves the leak.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rules as the last lab: lockstep. Eight tasks, one at a time. Instructors float and help anyone who falls behind.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your GitHub Pages / Netlify link or a QR code here before class. If wifi flakes, students can open the .html file you shared on Drive, since it runs offline. Give everyone about 2 minutes to load it and confirm they see the packet 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30-second tour live on your screen: filter, list, detail. Show one click so they see a packet open into layers. Then they drive.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straight back to the lecture. The phrase 'device to host to app' is the spine of the whole session, so say it out loud here and again at every packet they open.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should spot the DNS query/response for free-prize-login.tk resolving to 185.220.101.42. That outside address is the first thread to pull.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the POST to free-prize-login.tk contains username=j.smith and the password in plain text. Let the room react when they read a password straight off the wire.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is the lesson: the legit portal is encrypted and unreadable, the bait site is plain and exposed. Encryption is the only difference.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lecture made concrete. Have them say the chain out loud: MAC is the device, IP is the host, port is the 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handshake. TCP trades a little speed for reliability, which is why anything that must arrive intact uses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TCP has setup and acknowledgements, UDP just fires. DNS uses UDP because a lookup is tiny and easy to retry.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192.168.1.105, .1 and .20 are local; 104.18.22.10, 185.220.101.42 and 8.8.8.8 are internet. The /24 keeps the first three octets fixed.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whenever a student is lost in the detail pane. The same four addresses appear on every packet, in this order, from the outside 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phishing site over plain HTTP, credentials sent in cleartext. A correct call marks the final task done and closes the case.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once, in order. This is the story the packets told. Each line maps to a task they just completed.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They will check for the padlock and https on real sites after this. That habit is the takeaway.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2 to 3 minutes, then take a few answers. Aim for: the cleartext POST; switch to HTTPS; look for https and the padlock in the address bar.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keen ones. Wireshark is the real version of today's tool. Note that ping and tracert may be blocked on school wifi but work fine on home networks.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out and invite questions. Thank them for following along in lockstep. That wraps the two practical labs.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02920" y="457200"/>
            <a:ext cx="914400" cy="365760"/>
          </a:xfrm>
          <a:prstGeom prst="rect">
            <a:avLst/>
          </a:prstGeom>
          <a:noFill/>
          <a:ln/>
        </p:spPr>
        <p:txBody>
          <a:bodyPr wrap="square" lIns="0" tIns="0" rIns="0" bIns="0" rtlCol="0" anchor="ctr"/>
          <a:lstStyle/>
          <a:p>
            <a:pPr marL="0" indent="0">
              <a:buNone/>
            </a:pPr>
            <a:r>
              <a:rPr lang="en-US" sz="2000" b="1" dirty="0">
                <a:solidFill>
                  <a:srgbClr val="5A6B7B"/>
                </a:solidFill>
                <a:latin typeface="Consolas" pitchFamily="34" charset="0"/>
                <a:ea typeface="Consolas" pitchFamily="34" charset="-122"/>
                <a:cs typeface="Consolas" pitchFamily="34" charset="-120"/>
              </a:rPr>
              <a:t>&gt;</a:t>
            </a:r>
            <a:r>
              <a:rPr lang="en-US" sz="2000" b="1" dirty="0">
                <a:solidFill>
                  <a:srgbClr val="22C7E0"/>
                </a:solidFill>
                <a:latin typeface="Consolas" pitchFamily="34" charset="0"/>
                <a:ea typeface="Consolas" pitchFamily="34" charset="-122"/>
                <a:cs typeface="Consolas" pitchFamily="34" charset="-120"/>
              </a:rPr>
              <a:t>_</a:t>
            </a:r>
            <a:endParaRPr lang="en-US" sz="2000" dirty="0"/>
          </a:p>
        </p:txBody>
      </p:sp>
      <p:sp>
        <p:nvSpPr>
          <p:cNvPr id="3" name="Text 1"/>
          <p:cNvSpPr/>
          <p:nvPr/>
        </p:nvSpPr>
        <p:spPr>
          <a:xfrm>
            <a:off x="521208" y="1737360"/>
            <a:ext cx="8138160" cy="320040"/>
          </a:xfrm>
          <a:prstGeom prst="rect">
            <a:avLst/>
          </a:prstGeom>
          <a:noFill/>
          <a:ln/>
        </p:spPr>
        <p:txBody>
          <a:bodyPr wrap="square" lIns="0" tIns="0" rIns="0" bIns="0" rtlCol="0" anchor="ctr"/>
          <a:lstStyle/>
          <a:p>
            <a:pPr marL="0" indent="0">
              <a:buNone/>
            </a:pPr>
            <a:r>
              <a:rPr lang="en-US" sz="1300" b="1" kern="0" spc="250" dirty="0">
                <a:solidFill>
                  <a:srgbClr val="22C7E0"/>
                </a:solidFill>
                <a:latin typeface="Calibri" pitchFamily="34" charset="0"/>
                <a:ea typeface="Calibri" pitchFamily="34" charset="-122"/>
                <a:cs typeface="Calibri" pitchFamily="34" charset="-120"/>
              </a:rPr>
              <a:t>CS4CS · NETWORKING LAB</a:t>
            </a:r>
            <a:endParaRPr lang="en-US" sz="1300" dirty="0"/>
          </a:p>
        </p:txBody>
      </p:sp>
      <p:sp>
        <p:nvSpPr>
          <p:cNvPr id="4" name="Text 2"/>
          <p:cNvSpPr/>
          <p:nvPr/>
        </p:nvSpPr>
        <p:spPr>
          <a:xfrm>
            <a:off x="475488" y="2103120"/>
            <a:ext cx="8183880" cy="128016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Internet Detective</a:t>
            </a:r>
            <a:endParaRPr lang="en-US" sz="5000" dirty="0"/>
          </a:p>
        </p:txBody>
      </p:sp>
      <p:sp>
        <p:nvSpPr>
          <p:cNvPr id="5" name="Text 3"/>
          <p:cNvSpPr/>
          <p:nvPr/>
        </p:nvSpPr>
        <p:spPr>
          <a:xfrm>
            <a:off x="502920" y="3429000"/>
            <a:ext cx="7863840" cy="822960"/>
          </a:xfrm>
          <a:prstGeom prst="rect">
            <a:avLst/>
          </a:prstGeom>
          <a:noFill/>
          <a:ln/>
        </p:spPr>
        <p:txBody>
          <a:bodyPr wrap="square" lIns="0" tIns="0" rIns="0" bIns="0" rtlCol="0" anchor="ctr"/>
          <a:lstStyle/>
          <a:p>
            <a:pPr marL="0" indent="0">
              <a:lnSpc>
                <a:spcPct val="115000"/>
              </a:lnSpc>
              <a:buNone/>
            </a:pPr>
            <a:r>
              <a:rPr lang="en-US" sz="1600" dirty="0">
                <a:solidFill>
                  <a:srgbClr val="A6BBD0"/>
                </a:solidFill>
                <a:latin typeface="Calibri" pitchFamily="34" charset="0"/>
                <a:ea typeface="Calibri" pitchFamily="34" charset="-122"/>
                <a:cs typeface="Calibri" pitchFamily="34" charset="-120"/>
              </a:rPr>
              <a:t>Open a captured network trace and prove how a password leaked. One packet at a time.</a:t>
            </a:r>
            <a:endParaRPr lang="en-US" sz="1600" dirty="0"/>
          </a:p>
        </p:txBody>
      </p:sp>
      <p:sp>
        <p:nvSpPr>
          <p:cNvPr id="6" name="Shape 4"/>
          <p:cNvSpPr/>
          <p:nvPr/>
        </p:nvSpPr>
        <p:spPr>
          <a:xfrm>
            <a:off x="7635240" y="411480"/>
            <a:ext cx="731520" cy="731520"/>
          </a:xfrm>
          <a:prstGeom prst="ellipse">
            <a:avLst/>
          </a:prstGeom>
          <a:solidFill>
            <a:srgbClr val="22C7E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825435" y="601675"/>
            <a:ext cx="351130" cy="351130"/>
          </a:xfrm>
          <a:prstGeom prst="rect">
            <a:avLst/>
          </a:prstGeom>
        </p:spPr>
      </p:pic>
      <p:sp>
        <p:nvSpPr>
          <p:cNvPr id="8" name="Text 5"/>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9" name="Text 6"/>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21208" y="868680"/>
            <a:ext cx="6400800" cy="320040"/>
          </a:xfrm>
          <a:prstGeom prst="rect">
            <a:avLst/>
          </a:prstGeom>
          <a:noFill/>
          <a:ln/>
        </p:spPr>
        <p:txBody>
          <a:bodyPr wrap="square" lIns="0" tIns="0" rIns="0" bIns="0" rtlCol="0" anchor="ctr"/>
          <a:lstStyle/>
          <a:p>
            <a:pPr marL="0" indent="0">
              <a:buNone/>
            </a:pPr>
            <a:r>
              <a:rPr lang="en-US" sz="1300" b="1" kern="0" spc="250" dirty="0">
                <a:solidFill>
                  <a:srgbClr val="22C7E0"/>
                </a:solidFill>
                <a:latin typeface="Calibri" pitchFamily="34" charset="0"/>
                <a:ea typeface="Calibri" pitchFamily="34" charset="-122"/>
                <a:cs typeface="Calibri" pitchFamily="34" charset="-120"/>
              </a:rPr>
              <a:t>THE CASE</a:t>
            </a:r>
            <a:endParaRPr lang="en-US" sz="1300" dirty="0"/>
          </a:p>
        </p:txBody>
      </p:sp>
      <p:sp>
        <p:nvSpPr>
          <p:cNvPr id="3" name="Text 1"/>
          <p:cNvSpPr/>
          <p:nvPr/>
        </p:nvSpPr>
        <p:spPr>
          <a:xfrm>
            <a:off x="475488" y="1371600"/>
            <a:ext cx="7498080" cy="219456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A laptop on the school Wi-Fi may have leaked a password. We captured every packet it sent. Open the trace and prove what happened.</a:t>
            </a:r>
            <a:endParaRPr lang="en-US" sz="3400" dirty="0"/>
          </a:p>
        </p:txBody>
      </p:sp>
      <p:sp>
        <p:nvSpPr>
          <p:cNvPr id="4" name="Text 2"/>
          <p:cNvSpPr/>
          <p:nvPr/>
        </p:nvSpPr>
        <p:spPr>
          <a:xfrm>
            <a:off x="502920" y="3977640"/>
            <a:ext cx="7863840" cy="640080"/>
          </a:xfrm>
          <a:prstGeom prst="rect">
            <a:avLst/>
          </a:prstGeom>
          <a:noFill/>
          <a:ln/>
        </p:spPr>
        <p:txBody>
          <a:bodyPr wrap="square" lIns="0" tIns="0" rIns="0" bIns="0" rtlCol="0" anchor="ctr"/>
          <a:lstStyle/>
          <a:p>
            <a:pPr marL="0" indent="0">
              <a:buNone/>
            </a:pPr>
            <a:r>
              <a:rPr lang="en-US" sz="1500" i="1" dirty="0">
                <a:solidFill>
                  <a:srgbClr val="22C7E0"/>
                </a:solidFill>
                <a:latin typeface="Calibri" pitchFamily="34" charset="0"/>
                <a:ea typeface="Calibri" pitchFamily="34" charset="-122"/>
                <a:cs typeface="Calibri" pitchFamily="34" charset="-120"/>
              </a:rPr>
              <a:t>Mission: find the leak, name how it happened, and say what would have stopped it.</a:t>
            </a:r>
            <a:endParaRPr lang="en-US" sz="1500" dirty="0"/>
          </a:p>
        </p:txBody>
      </p:sp>
      <p:sp>
        <p:nvSpPr>
          <p:cNvPr id="5" name="Shape 3"/>
          <p:cNvSpPr/>
          <p:nvPr/>
        </p:nvSpPr>
        <p:spPr>
          <a:xfrm>
            <a:off x="7589520" y="502920"/>
            <a:ext cx="777240" cy="777240"/>
          </a:xfrm>
          <a:prstGeom prst="ellipse">
            <a:avLst/>
          </a:prstGeom>
          <a:solidFill>
            <a:srgbClr val="22C7E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91602" y="705002"/>
            <a:ext cx="373075" cy="373075"/>
          </a:xfrm>
          <a:prstGeom prst="rect">
            <a:avLst/>
          </a:prstGeom>
        </p:spPr>
      </p:pic>
      <p:sp>
        <p:nvSpPr>
          <p:cNvPr id="7" name="Text 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8" name="Text 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HOW TODAY WORKS</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Before we start</a:t>
            </a:r>
            <a:endParaRPr lang="en-US" sz="3600" dirty="0"/>
          </a:p>
        </p:txBody>
      </p:sp>
      <p:sp>
        <p:nvSpPr>
          <p:cNvPr id="4" name="Shape 2"/>
          <p:cNvSpPr/>
          <p:nvPr/>
        </p:nvSpPr>
        <p:spPr>
          <a:xfrm>
            <a:off x="50292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58952" y="2194560"/>
            <a:ext cx="566928" cy="566928"/>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6353" y="2341961"/>
            <a:ext cx="272125" cy="272125"/>
          </a:xfrm>
          <a:prstGeom prst="rect">
            <a:avLst/>
          </a:prstGeom>
        </p:spPr>
      </p:pic>
      <p:sp>
        <p:nvSpPr>
          <p:cNvPr id="7" name="Text 4"/>
          <p:cNvSpPr/>
          <p:nvPr/>
        </p:nvSpPr>
        <p:spPr>
          <a:xfrm>
            <a:off x="75895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Work solo or in pairs</a:t>
            </a:r>
            <a:endParaRPr lang="en-US" sz="1600" dirty="0"/>
          </a:p>
        </p:txBody>
      </p:sp>
      <p:sp>
        <p:nvSpPr>
          <p:cNvPr id="8" name="Text 5"/>
          <p:cNvSpPr/>
          <p:nvPr/>
        </p:nvSpPr>
        <p:spPr>
          <a:xfrm>
            <a:off x="75895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A pair sharing one laptop is great. Talk through every clue out loud.</a:t>
            </a:r>
            <a:endParaRPr lang="en-US" sz="1250" dirty="0"/>
          </a:p>
        </p:txBody>
      </p:sp>
      <p:sp>
        <p:nvSpPr>
          <p:cNvPr id="9" name="Shape 6"/>
          <p:cNvSpPr/>
          <p:nvPr/>
        </p:nvSpPr>
        <p:spPr>
          <a:xfrm>
            <a:off x="330647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3562502" y="2194560"/>
            <a:ext cx="566928" cy="566928"/>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709904" y="2341961"/>
            <a:ext cx="272125" cy="272125"/>
          </a:xfrm>
          <a:prstGeom prst="rect">
            <a:avLst/>
          </a:prstGeom>
        </p:spPr>
      </p:pic>
      <p:sp>
        <p:nvSpPr>
          <p:cNvPr id="12" name="Text 8"/>
          <p:cNvSpPr/>
          <p:nvPr/>
        </p:nvSpPr>
        <p:spPr>
          <a:xfrm>
            <a:off x="356250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Move together</a:t>
            </a:r>
            <a:endParaRPr lang="en-US" sz="1600" dirty="0"/>
          </a:p>
        </p:txBody>
      </p:sp>
      <p:sp>
        <p:nvSpPr>
          <p:cNvPr id="13" name="Text 9"/>
          <p:cNvSpPr/>
          <p:nvPr/>
        </p:nvSpPr>
        <p:spPr>
          <a:xfrm>
            <a:off x="356250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We do one task at a time as a room. Please don't race ahead of the slides.</a:t>
            </a:r>
            <a:endParaRPr lang="en-US" sz="1250" dirty="0"/>
          </a:p>
        </p:txBody>
      </p:sp>
      <p:sp>
        <p:nvSpPr>
          <p:cNvPr id="14" name="Shape 10"/>
          <p:cNvSpPr/>
          <p:nvPr/>
        </p:nvSpPr>
        <p:spPr>
          <a:xfrm>
            <a:off x="6110021"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5" name="Shape 11"/>
          <p:cNvSpPr/>
          <p:nvPr/>
        </p:nvSpPr>
        <p:spPr>
          <a:xfrm>
            <a:off x="6366053" y="2194560"/>
            <a:ext cx="566928" cy="566928"/>
          </a:xfrm>
          <a:prstGeom prst="ellipse">
            <a:avLst/>
          </a:prstGeom>
          <a:solidFill>
            <a:srgbClr val="0A162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513454" y="2341961"/>
            <a:ext cx="272125" cy="272125"/>
          </a:xfrm>
          <a:prstGeom prst="rect">
            <a:avLst/>
          </a:prstGeom>
        </p:spPr>
      </p:pic>
      <p:sp>
        <p:nvSpPr>
          <p:cNvPr id="17" name="Text 12"/>
          <p:cNvSpPr/>
          <p:nvPr/>
        </p:nvSpPr>
        <p:spPr>
          <a:xfrm>
            <a:off x="6366053"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We're here to help</a:t>
            </a:r>
            <a:endParaRPr lang="en-US" sz="1600" dirty="0"/>
          </a:p>
        </p:txBody>
      </p:sp>
      <p:sp>
        <p:nvSpPr>
          <p:cNvPr id="18" name="Text 13"/>
          <p:cNvSpPr/>
          <p:nvPr/>
        </p:nvSpPr>
        <p:spPr>
          <a:xfrm>
            <a:off x="6366053"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Stuck for more than a minute? Raise a hand and an instructor will come over.</a:t>
            </a:r>
            <a:endParaRPr lang="en-US" sz="1250" dirty="0"/>
          </a:p>
        </p:txBody>
      </p:sp>
      <p:sp>
        <p:nvSpPr>
          <p:cNvPr id="19" name="Text 1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0" name="Text 1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SETUP · OPEN THE LAB</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Open the lab in your browser</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493776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77240" y="2057400"/>
            <a:ext cx="43891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GO TO THIS LINK</a:t>
            </a:r>
            <a:endParaRPr lang="en-US" sz="1100" dirty="0"/>
          </a:p>
        </p:txBody>
      </p:sp>
      <p:sp>
        <p:nvSpPr>
          <p:cNvPr id="8" name="Shape 5"/>
          <p:cNvSpPr/>
          <p:nvPr/>
        </p:nvSpPr>
        <p:spPr>
          <a:xfrm>
            <a:off x="777240" y="2423160"/>
            <a:ext cx="4389120" cy="640080"/>
          </a:xfrm>
          <a:prstGeom prst="roundRect">
            <a:avLst>
              <a:gd name="adj" fmla="val 8571"/>
            </a:avLst>
          </a:prstGeom>
          <a:solidFill>
            <a:srgbClr val="0A1628"/>
          </a:solidFill>
          <a:ln/>
        </p:spPr>
        <p:txBody>
          <a:bodyPr/>
          <a:lstStyle/>
          <a:p>
            <a:endParaRPr lang="en-US"/>
          </a:p>
        </p:txBody>
      </p:sp>
      <p:sp>
        <p:nvSpPr>
          <p:cNvPr id="9" name="Text 6"/>
          <p:cNvSpPr/>
          <p:nvPr/>
        </p:nvSpPr>
        <p:spPr>
          <a:xfrm>
            <a:off x="868680" y="2423160"/>
            <a:ext cx="4206240" cy="640080"/>
          </a:xfrm>
          <a:prstGeom prst="rect">
            <a:avLst/>
          </a:prstGeom>
          <a:noFill/>
          <a:ln/>
        </p:spPr>
        <p:txBody>
          <a:bodyPr wrap="square" lIns="0" tIns="0" rIns="0" bIns="0" rtlCol="0" anchor="ctr"/>
          <a:lstStyle/>
          <a:p>
            <a:pPr marL="0" indent="0">
              <a:buNone/>
            </a:pPr>
            <a:r>
              <a:rPr lang="en-US" sz="1500" dirty="0">
                <a:solidFill>
                  <a:srgbClr val="22C7E0"/>
                </a:solidFill>
                <a:latin typeface="Consolas" pitchFamily="34" charset="0"/>
                <a:ea typeface="Consolas" pitchFamily="34" charset="-122"/>
                <a:cs typeface="Consolas" pitchFamily="34" charset="-120"/>
              </a:rPr>
              <a:t>[ paste your lab link here ]</a:t>
            </a:r>
            <a:endParaRPr lang="en-US" sz="1500" dirty="0"/>
          </a:p>
        </p:txBody>
      </p:sp>
      <p:sp>
        <p:nvSpPr>
          <p:cNvPr id="10" name="Text 7"/>
          <p:cNvSpPr/>
          <p:nvPr/>
        </p:nvSpPr>
        <p:spPr>
          <a:xfrm>
            <a:off x="777240" y="3200400"/>
            <a:ext cx="4389120" cy="914400"/>
          </a:xfrm>
          <a:prstGeom prst="rect">
            <a:avLst/>
          </a:prstGeom>
          <a:noFill/>
          <a:ln/>
        </p:spPr>
        <p:txBody>
          <a:bodyPr wrap="square" lIns="0" tIns="0" rIns="0" bIns="0" rtlCol="0" anchor="t"/>
          <a:lstStyle/>
          <a:p>
            <a:pPr marL="0" indent="0">
              <a:lnSpc>
                <a:spcPct val="115000"/>
              </a:lnSpc>
              <a:buNone/>
            </a:pPr>
            <a:r>
              <a:rPr lang="en-US" sz="1250" dirty="0">
                <a:solidFill>
                  <a:srgbClr val="5A6B7B"/>
                </a:solidFill>
                <a:latin typeface="Calibri" pitchFamily="34" charset="0"/>
                <a:ea typeface="Calibri" pitchFamily="34" charset="-122"/>
                <a:cs typeface="Calibri" pitchFamily="34" charset="-120"/>
              </a:rPr>
              <a:t>A short link or QR code is easiest for a room of 60. Replace this before class.</a:t>
            </a:r>
            <a:endParaRPr lang="en-US" sz="1250" dirty="0"/>
          </a:p>
        </p:txBody>
      </p:sp>
      <p:sp>
        <p:nvSpPr>
          <p:cNvPr id="11" name="Shape 8"/>
          <p:cNvSpPr/>
          <p:nvPr/>
        </p:nvSpPr>
        <p:spPr>
          <a:xfrm>
            <a:off x="5669280" y="1828800"/>
            <a:ext cx="297180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2" name="Shape 9"/>
          <p:cNvSpPr/>
          <p:nvPr/>
        </p:nvSpPr>
        <p:spPr>
          <a:xfrm>
            <a:off x="5897880" y="2057400"/>
            <a:ext cx="457200" cy="457200"/>
          </a:xfrm>
          <a:prstGeom prst="ellipse">
            <a:avLst/>
          </a:prstGeom>
          <a:solidFill>
            <a:srgbClr val="0A162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6016752" y="2176272"/>
            <a:ext cx="219456" cy="219456"/>
          </a:xfrm>
          <a:prstGeom prst="rect">
            <a:avLst/>
          </a:prstGeom>
        </p:spPr>
      </p:pic>
      <p:sp>
        <p:nvSpPr>
          <p:cNvPr id="14" name="Text 10"/>
          <p:cNvSpPr/>
          <p:nvPr/>
        </p:nvSpPr>
        <p:spPr>
          <a:xfrm>
            <a:off x="6446520" y="2075688"/>
            <a:ext cx="201168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What you'll see</a:t>
            </a:r>
            <a:endParaRPr lang="en-US" sz="1500" dirty="0"/>
          </a:p>
        </p:txBody>
      </p:sp>
      <p:sp>
        <p:nvSpPr>
          <p:cNvPr id="15" name="Text 11"/>
          <p:cNvSpPr/>
          <p:nvPr/>
        </p:nvSpPr>
        <p:spPr>
          <a:xfrm>
            <a:off x="5897880" y="2606040"/>
            <a:ext cx="2606040" cy="1554480"/>
          </a:xfrm>
          <a:prstGeom prst="rect">
            <a:avLst/>
          </a:prstGeom>
          <a:noFill/>
          <a:ln/>
        </p:spPr>
        <p:txBody>
          <a:bodyPr wrap="square" lIns="0" tIns="0" rIns="0" bIns="0" rtlCol="0" anchor="t"/>
          <a:lstStyle/>
          <a:p>
            <a:pPr marL="0" indent="0">
              <a:lnSpc>
                <a:spcPct val="113000"/>
              </a:lnSpc>
              <a:buNone/>
            </a:pPr>
            <a:r>
              <a:rPr lang="en-US" sz="1250" dirty="0">
                <a:solidFill>
                  <a:srgbClr val="5A6B7B"/>
                </a:solidFill>
                <a:latin typeface="Calibri" pitchFamily="34" charset="0"/>
                <a:ea typeface="Calibri" pitchFamily="34" charset="-122"/>
                <a:cs typeface="Calibri" pitchFamily="34" charset="-120"/>
              </a:rPr>
              <a:t>A packet analyzer with a filter bar on top, a color-coded list of packets, and a detail pane. Eight tasks sit on the right. Click any packet to open it.</a:t>
            </a:r>
            <a:endParaRPr lang="en-US" sz="1250" dirty="0"/>
          </a:p>
        </p:txBody>
      </p:sp>
      <p:sp>
        <p:nvSpPr>
          <p:cNvPr id="16" name="Text 12"/>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7" name="Text 13"/>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THE PACKET ANALYZER</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Your toolkit</a:t>
            </a:r>
            <a:endParaRPr lang="en-US" sz="3600" dirty="0"/>
          </a:p>
        </p:txBody>
      </p:sp>
      <p:sp>
        <p:nvSpPr>
          <p:cNvPr id="4" name="Shape 2"/>
          <p:cNvSpPr/>
          <p:nvPr/>
        </p:nvSpPr>
        <p:spPr>
          <a:xfrm>
            <a:off x="502920" y="1874520"/>
            <a:ext cx="8138160" cy="694944"/>
          </a:xfrm>
          <a:prstGeom prst="roundRect">
            <a:avLst>
              <a:gd name="adj" fmla="val 10526"/>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13232" y="1993392"/>
            <a:ext cx="457200" cy="457200"/>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32104" y="2112264"/>
            <a:ext cx="219456" cy="219456"/>
          </a:xfrm>
          <a:prstGeom prst="rect">
            <a:avLst/>
          </a:prstGeom>
        </p:spPr>
      </p:pic>
      <p:sp>
        <p:nvSpPr>
          <p:cNvPr id="7" name="Text 4"/>
          <p:cNvSpPr/>
          <p:nvPr/>
        </p:nvSpPr>
        <p:spPr>
          <a:xfrm>
            <a:off x="1371600" y="1874520"/>
            <a:ext cx="7132320" cy="694944"/>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Filter bar   </a:t>
            </a:r>
            <a:r>
              <a:rPr lang="en-US" sz="1350" dirty="0">
                <a:solidFill>
                  <a:srgbClr val="5A6B7B"/>
                </a:solidFill>
                <a:latin typeface="Calibri" pitchFamily="34" charset="0"/>
                <a:ea typeface="Calibri" pitchFamily="34" charset="-122"/>
                <a:cs typeface="Calibri" pitchFamily="34" charset="-120"/>
              </a:rPr>
              <a:t>type dns, http, tls, tcp, udp, or an IP to narrow the list. The quick buttons do the same.</a:t>
            </a:r>
            <a:endParaRPr lang="en-US" sz="1350" dirty="0"/>
          </a:p>
        </p:txBody>
      </p:sp>
      <p:sp>
        <p:nvSpPr>
          <p:cNvPr id="8" name="Shape 5"/>
          <p:cNvSpPr/>
          <p:nvPr/>
        </p:nvSpPr>
        <p:spPr>
          <a:xfrm>
            <a:off x="502920" y="2715768"/>
            <a:ext cx="8138160" cy="694944"/>
          </a:xfrm>
          <a:prstGeom prst="roundRect">
            <a:avLst>
              <a:gd name="adj" fmla="val 10526"/>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9" name="Shape 6"/>
          <p:cNvSpPr/>
          <p:nvPr/>
        </p:nvSpPr>
        <p:spPr>
          <a:xfrm>
            <a:off x="713232" y="2834640"/>
            <a:ext cx="457200" cy="457200"/>
          </a:xfrm>
          <a:prstGeom prst="ellipse">
            <a:avLst/>
          </a:prstGeom>
          <a:solidFill>
            <a:srgbClr val="0A1628"/>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32104" y="2953512"/>
            <a:ext cx="219456" cy="219456"/>
          </a:xfrm>
          <a:prstGeom prst="rect">
            <a:avLst/>
          </a:prstGeom>
        </p:spPr>
      </p:pic>
      <p:sp>
        <p:nvSpPr>
          <p:cNvPr id="11" name="Text 7"/>
          <p:cNvSpPr/>
          <p:nvPr/>
        </p:nvSpPr>
        <p:spPr>
          <a:xfrm>
            <a:off x="1371600" y="2715768"/>
            <a:ext cx="7132320" cy="694944"/>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Packet list   </a:t>
            </a:r>
            <a:r>
              <a:rPr lang="en-US" sz="1350" dirty="0">
                <a:solidFill>
                  <a:srgbClr val="5A6B7B"/>
                </a:solidFill>
                <a:latin typeface="Calibri" pitchFamily="34" charset="0"/>
                <a:ea typeface="Calibri" pitchFamily="34" charset="-122"/>
                <a:cs typeface="Calibri" pitchFamily="34" charset="-120"/>
              </a:rPr>
              <a:t>every packet in time order: who sent it, who got it, and the protocol. Colors group them.</a:t>
            </a:r>
            <a:endParaRPr lang="en-US" sz="1350" dirty="0"/>
          </a:p>
        </p:txBody>
      </p:sp>
      <p:sp>
        <p:nvSpPr>
          <p:cNvPr id="12" name="Shape 8"/>
          <p:cNvSpPr/>
          <p:nvPr/>
        </p:nvSpPr>
        <p:spPr>
          <a:xfrm>
            <a:off x="502920" y="3557016"/>
            <a:ext cx="8138160" cy="694944"/>
          </a:xfrm>
          <a:prstGeom prst="roundRect">
            <a:avLst>
              <a:gd name="adj" fmla="val 10526"/>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3" name="Shape 9"/>
          <p:cNvSpPr/>
          <p:nvPr/>
        </p:nvSpPr>
        <p:spPr>
          <a:xfrm>
            <a:off x="713232" y="3675888"/>
            <a:ext cx="457200" cy="457200"/>
          </a:xfrm>
          <a:prstGeom prst="ellipse">
            <a:avLst/>
          </a:prstGeom>
          <a:solidFill>
            <a:srgbClr val="0A1628"/>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32104" y="3794760"/>
            <a:ext cx="219456" cy="219456"/>
          </a:xfrm>
          <a:prstGeom prst="rect">
            <a:avLst/>
          </a:prstGeom>
        </p:spPr>
      </p:pic>
      <p:sp>
        <p:nvSpPr>
          <p:cNvPr id="15" name="Text 10"/>
          <p:cNvSpPr/>
          <p:nvPr/>
        </p:nvSpPr>
        <p:spPr>
          <a:xfrm>
            <a:off x="1371600" y="3557016"/>
            <a:ext cx="7132320" cy="694944"/>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Detail pane   </a:t>
            </a:r>
            <a:r>
              <a:rPr lang="en-US" sz="1350" dirty="0">
                <a:solidFill>
                  <a:srgbClr val="5A6B7B"/>
                </a:solidFill>
                <a:latin typeface="Calibri" pitchFamily="34" charset="0"/>
                <a:ea typeface="Calibri" pitchFamily="34" charset="-122"/>
                <a:cs typeface="Calibri" pitchFamily="34" charset="-120"/>
              </a:rPr>
              <a:t>click a packet to crack it open and read its layers, from the MAC up to the app.</a:t>
            </a:r>
            <a:endParaRPr lang="en-US" sz="1350" dirty="0"/>
          </a:p>
        </p:txBody>
      </p:sp>
      <p:sp>
        <p:nvSpPr>
          <p:cNvPr id="16" name="Text 11"/>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7" name="Text 12"/>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CONNECT TO TODAY'S LECTURE</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Everything here is from class</a:t>
            </a:r>
            <a:endParaRPr lang="en-US" sz="3600" dirty="0"/>
          </a:p>
        </p:txBody>
      </p:sp>
      <p:sp>
        <p:nvSpPr>
          <p:cNvPr id="4" name="Shape 2"/>
          <p:cNvSpPr/>
          <p:nvPr/>
        </p:nvSpPr>
        <p:spPr>
          <a:xfrm>
            <a:off x="502920" y="1874520"/>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13232" y="1929384"/>
            <a:ext cx="457200" cy="457200"/>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32104" y="2048256"/>
            <a:ext cx="219456" cy="219456"/>
          </a:xfrm>
          <a:prstGeom prst="rect">
            <a:avLst/>
          </a:prstGeom>
        </p:spPr>
      </p:pic>
      <p:sp>
        <p:nvSpPr>
          <p:cNvPr id="7" name="Text 4"/>
          <p:cNvSpPr/>
          <p:nvPr/>
        </p:nvSpPr>
        <p:spPr>
          <a:xfrm>
            <a:off x="1371600" y="1874520"/>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The TCP/IP model   </a:t>
            </a:r>
            <a:r>
              <a:rPr lang="en-US" sz="1350" dirty="0">
                <a:solidFill>
                  <a:srgbClr val="5A6B7B"/>
                </a:solidFill>
                <a:latin typeface="Calibri" pitchFamily="34" charset="0"/>
                <a:ea typeface="Calibri" pitchFamily="34" charset="-122"/>
                <a:cs typeface="Calibri" pitchFamily="34" charset="-120"/>
              </a:rPr>
              <a:t>every packet you open is the model in action: device → host → app.</a:t>
            </a:r>
            <a:endParaRPr lang="en-US" sz="1350" dirty="0"/>
          </a:p>
        </p:txBody>
      </p:sp>
      <p:sp>
        <p:nvSpPr>
          <p:cNvPr id="8" name="Shape 5"/>
          <p:cNvSpPr/>
          <p:nvPr/>
        </p:nvSpPr>
        <p:spPr>
          <a:xfrm>
            <a:off x="502920" y="2587752"/>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9" name="Shape 6"/>
          <p:cNvSpPr/>
          <p:nvPr/>
        </p:nvSpPr>
        <p:spPr>
          <a:xfrm>
            <a:off x="713232" y="2642616"/>
            <a:ext cx="457200" cy="457200"/>
          </a:xfrm>
          <a:prstGeom prst="ellipse">
            <a:avLst/>
          </a:prstGeom>
          <a:solidFill>
            <a:srgbClr val="0A1628"/>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32104" y="2761488"/>
            <a:ext cx="219456" cy="219456"/>
          </a:xfrm>
          <a:prstGeom prst="rect">
            <a:avLst/>
          </a:prstGeom>
        </p:spPr>
      </p:pic>
      <p:sp>
        <p:nvSpPr>
          <p:cNvPr id="11" name="Text 7"/>
          <p:cNvSpPr/>
          <p:nvPr/>
        </p:nvSpPr>
        <p:spPr>
          <a:xfrm>
            <a:off x="1371600" y="2587752"/>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Ports and protocols   </a:t>
            </a:r>
            <a:r>
              <a:rPr lang="en-US" sz="1350" dirty="0">
                <a:solidFill>
                  <a:srgbClr val="5A6B7B"/>
                </a:solidFill>
                <a:latin typeface="Calibri" pitchFamily="34" charset="0"/>
                <a:ea typeface="Calibri" pitchFamily="34" charset="-122"/>
                <a:cs typeface="Calibri" pitchFamily="34" charset="-120"/>
              </a:rPr>
              <a:t>port 53 = DNS, 80 = HTTP, 443 = HTTPS. The port tells you the service.</a:t>
            </a:r>
            <a:endParaRPr lang="en-US" sz="1350" dirty="0"/>
          </a:p>
        </p:txBody>
      </p:sp>
      <p:sp>
        <p:nvSpPr>
          <p:cNvPr id="12" name="Shape 8"/>
          <p:cNvSpPr/>
          <p:nvPr/>
        </p:nvSpPr>
        <p:spPr>
          <a:xfrm>
            <a:off x="502920" y="3300984"/>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3" name="Shape 9"/>
          <p:cNvSpPr/>
          <p:nvPr/>
        </p:nvSpPr>
        <p:spPr>
          <a:xfrm>
            <a:off x="713232" y="3355848"/>
            <a:ext cx="457200" cy="457200"/>
          </a:xfrm>
          <a:prstGeom prst="ellipse">
            <a:avLst/>
          </a:prstGeom>
          <a:solidFill>
            <a:srgbClr val="0A1628"/>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32104" y="3474720"/>
            <a:ext cx="219456" cy="219456"/>
          </a:xfrm>
          <a:prstGeom prst="rect">
            <a:avLst/>
          </a:prstGeom>
        </p:spPr>
      </p:pic>
      <p:sp>
        <p:nvSpPr>
          <p:cNvPr id="15" name="Text 10"/>
          <p:cNvSpPr/>
          <p:nvPr/>
        </p:nvSpPr>
        <p:spPr>
          <a:xfrm>
            <a:off x="1371600" y="3300984"/>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TCP vs UDP   </a:t>
            </a:r>
            <a:r>
              <a:rPr lang="en-US" sz="1350" dirty="0">
                <a:solidFill>
                  <a:srgbClr val="5A6B7B"/>
                </a:solidFill>
                <a:latin typeface="Calibri" pitchFamily="34" charset="0"/>
                <a:ea typeface="Calibri" pitchFamily="34" charset="-122"/>
                <a:cs typeface="Calibri" pitchFamily="34" charset="-120"/>
              </a:rPr>
              <a:t>reliable and ordered, or lean and fire-and-forget. You'll meet both today.</a:t>
            </a:r>
            <a:endParaRPr lang="en-US" sz="1350" dirty="0"/>
          </a:p>
        </p:txBody>
      </p:sp>
      <p:sp>
        <p:nvSpPr>
          <p:cNvPr id="16" name="Shape 11"/>
          <p:cNvSpPr/>
          <p:nvPr/>
        </p:nvSpPr>
        <p:spPr>
          <a:xfrm>
            <a:off x="502920" y="4014216"/>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7" name="Shape 12"/>
          <p:cNvSpPr/>
          <p:nvPr/>
        </p:nvSpPr>
        <p:spPr>
          <a:xfrm>
            <a:off x="713232" y="4069080"/>
            <a:ext cx="457200" cy="457200"/>
          </a:xfrm>
          <a:prstGeom prst="ellipse">
            <a:avLst/>
          </a:prstGeom>
          <a:solidFill>
            <a:srgbClr val="0A1628"/>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832104" y="4187952"/>
            <a:ext cx="219456" cy="219456"/>
          </a:xfrm>
          <a:prstGeom prst="rect">
            <a:avLst/>
          </a:prstGeom>
        </p:spPr>
      </p:pic>
      <p:sp>
        <p:nvSpPr>
          <p:cNvPr id="19" name="Text 13"/>
          <p:cNvSpPr/>
          <p:nvPr/>
        </p:nvSpPr>
        <p:spPr>
          <a:xfrm>
            <a:off x="1371600" y="4014216"/>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Public vs private IP   </a:t>
            </a:r>
            <a:r>
              <a:rPr lang="en-US" sz="1350" dirty="0">
                <a:solidFill>
                  <a:srgbClr val="5A6B7B"/>
                </a:solidFill>
                <a:latin typeface="Calibri" pitchFamily="34" charset="0"/>
                <a:ea typeface="Calibri" pitchFamily="34" charset="-122"/>
                <a:cs typeface="Calibri" pitchFamily="34" charset="-120"/>
              </a:rPr>
              <a:t>192.168.x.x is your LAN. Everything else is out on the internet.</a:t>
            </a:r>
            <a:endParaRPr lang="en-US" sz="1350" dirty="0"/>
          </a:p>
        </p:txBody>
      </p:sp>
      <p:sp>
        <p:nvSpPr>
          <p:cNvPr id="20" name="Text 1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1" name="Text 1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1 OF 8 · NAMES TO NUMBERS</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Find the DNS lookups</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Type dns in the filter bar and press Enter (or tap the DNS button). Find where a name like free-prize-login.tk is turned into an IP address.</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DNS is the phone book</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DNS turns a human name into an IP address, on port 53 over UDP. Notice that the bait name resolves to an address out on the internet.</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2 OF 8 · PLAIN TEXT</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Find the cleartext HTTP</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Filter for http. Open the POST /submit packet sent to free-prize-login.tk and read the form data inside it.</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HTTP hides nothing</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Plain HTTP on port 80 sends everything readable. This POST carries a username and password in clear text. That is your smoking gun.</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3 OF 8 · LOCKED VS OPEN</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Find the encrypted traffic</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Filter for tls. Open a packet to the real school portal at 104.18.22.10 and try to read what is inside it.</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HTTPS is the lock</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HTTPS on port 443 wraps the data in TLS, so you see only scrambled bytes. Same internet, but the bait site skipped this protection.</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4 OF 8 · OUTSIDE-IN</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Read a packet's layers</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Click any packet to open the detail pane. Read it from the outside in: the frame (MAC), then the IP, then the port.</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Device to host to app</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Each layer wraps the one above. MAC moves it across the local link, IP across networks, the port to the right app. That is the whole model.</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5 OF 8 · RELIABLE</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Inspect a TCP packet</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Filter for tcp. Open one of the first packets between the laptop and a server and look at the handshake flags.</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TCP sets up first</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TCP does a three-way handshake (SYN, SYN-ACK, ACK), numbers every byte, and resends what gets lost. Web, email and files ride on it.</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6 OF 8 · FIRE AND FORGET</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Inspect a UDP packet</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Filter for udp. Open the DNS lookup you found in task 1 and compare it with the TCP packet you just opened.</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UDP just sends</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UDP has no handshake and no resend. It is lean and fast, which is why DNS, voice and video use it. Speed over guarantees.</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7 OF 8 · LOCAL OR INTERNET</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Run the subnet round</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Tap the Subnet round button. Sort six addresses into Local (this LAN) or Internet, using 192.168.1.0/24 as the dividing line.</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The /24 is the border</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A /24 means the first three numbers are the network. So 192.168.1.x is on the LAN, and anything else lives out on the internet, a WAN.</a:t>
            </a:r>
            <a:endParaRPr lang="en-US" sz="1300" dirty="0"/>
          </a:p>
        </p:txBody>
      </p:sp>
      <p:sp>
        <p:nvSpPr>
          <p:cNvPr id="14" name="Text 10"/>
          <p:cNvSpPr/>
          <p:nvPr/>
        </p:nvSpPr>
        <p:spPr>
          <a:xfrm>
            <a:off x="510415"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REFERENCE · ANATOMY OF A PACKET</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One frame, three addresses</a:t>
            </a:r>
            <a:endParaRPr lang="en-US" sz="3600" dirty="0"/>
          </a:p>
        </p:txBody>
      </p:sp>
      <p:sp>
        <p:nvSpPr>
          <p:cNvPr id="4" name="Shape 2"/>
          <p:cNvSpPr/>
          <p:nvPr/>
        </p:nvSpPr>
        <p:spPr>
          <a:xfrm>
            <a:off x="502920" y="1920240"/>
            <a:ext cx="2020824" cy="2103120"/>
          </a:xfrm>
          <a:prstGeom prst="roundRect">
            <a:avLst>
              <a:gd name="adj" fmla="val 3620"/>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Text 3"/>
          <p:cNvSpPr/>
          <p:nvPr/>
        </p:nvSpPr>
        <p:spPr>
          <a:xfrm>
            <a:off x="502920" y="2194560"/>
            <a:ext cx="2020824" cy="685800"/>
          </a:xfrm>
          <a:prstGeom prst="rect">
            <a:avLst/>
          </a:prstGeom>
          <a:noFill/>
          <a:ln/>
        </p:spPr>
        <p:txBody>
          <a:bodyPr wrap="square" lIns="0" tIns="0" rIns="0" bIns="0" rtlCol="0" anchor="ctr"/>
          <a:lstStyle/>
          <a:p>
            <a:pPr marL="0" indent="0" algn="ctr">
              <a:buNone/>
            </a:pPr>
            <a:r>
              <a:rPr lang="en-US" sz="3000" b="1" dirty="0">
                <a:solidFill>
                  <a:srgbClr val="0E7C8B"/>
                </a:solidFill>
                <a:latin typeface="Consolas" pitchFamily="34" charset="0"/>
                <a:ea typeface="Consolas" pitchFamily="34" charset="-122"/>
                <a:cs typeface="Consolas" pitchFamily="34" charset="-120"/>
              </a:rPr>
              <a:t>MAC</a:t>
            </a:r>
            <a:endParaRPr lang="en-US" sz="3000" dirty="0"/>
          </a:p>
        </p:txBody>
      </p:sp>
      <p:sp>
        <p:nvSpPr>
          <p:cNvPr id="6" name="Text 4"/>
          <p:cNvSpPr/>
          <p:nvPr/>
        </p:nvSpPr>
        <p:spPr>
          <a:xfrm>
            <a:off x="502920" y="2971800"/>
            <a:ext cx="2020824" cy="365760"/>
          </a:xfrm>
          <a:prstGeom prst="rect">
            <a:avLst/>
          </a:prstGeom>
          <a:noFill/>
          <a:ln/>
        </p:spPr>
        <p:txBody>
          <a:bodyPr wrap="square" lIns="0" tIns="0" rIns="0" bIns="0"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Layer 2</a:t>
            </a:r>
            <a:endParaRPr lang="en-US" sz="1500" dirty="0"/>
          </a:p>
        </p:txBody>
      </p:sp>
      <p:sp>
        <p:nvSpPr>
          <p:cNvPr id="7" name="Text 5"/>
          <p:cNvSpPr/>
          <p:nvPr/>
        </p:nvSpPr>
        <p:spPr>
          <a:xfrm>
            <a:off x="612648" y="3383280"/>
            <a:ext cx="1801368" cy="548640"/>
          </a:xfrm>
          <a:prstGeom prst="rect">
            <a:avLst/>
          </a:prstGeom>
          <a:noFill/>
          <a:ln/>
        </p:spPr>
        <p:txBody>
          <a:bodyPr wrap="square" lIns="0" tIns="0" rIns="0" bIns="0" rtlCol="0" anchor="ctr"/>
          <a:lstStyle/>
          <a:p>
            <a:pPr marL="0" indent="0" algn="ctr">
              <a:lnSpc>
                <a:spcPct val="105000"/>
              </a:lnSpc>
              <a:buNone/>
            </a:pPr>
            <a:r>
              <a:rPr lang="en-US" sz="1150" dirty="0">
                <a:solidFill>
                  <a:srgbClr val="5A6B7B"/>
                </a:solidFill>
                <a:latin typeface="Calibri" pitchFamily="34" charset="0"/>
                <a:ea typeface="Calibri" pitchFamily="34" charset="-122"/>
                <a:cs typeface="Calibri" pitchFamily="34" charset="-120"/>
              </a:rPr>
              <a:t>→ device (local link)</a:t>
            </a:r>
            <a:endParaRPr lang="en-US" sz="1150" dirty="0"/>
          </a:p>
        </p:txBody>
      </p:sp>
      <p:sp>
        <p:nvSpPr>
          <p:cNvPr id="8" name="Shape 6"/>
          <p:cNvSpPr/>
          <p:nvPr/>
        </p:nvSpPr>
        <p:spPr>
          <a:xfrm>
            <a:off x="2542032" y="1920240"/>
            <a:ext cx="2020824" cy="2103120"/>
          </a:xfrm>
          <a:prstGeom prst="roundRect">
            <a:avLst>
              <a:gd name="adj" fmla="val 3620"/>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9" name="Text 7"/>
          <p:cNvSpPr/>
          <p:nvPr/>
        </p:nvSpPr>
        <p:spPr>
          <a:xfrm>
            <a:off x="2542032" y="2194560"/>
            <a:ext cx="2020824" cy="685800"/>
          </a:xfrm>
          <a:prstGeom prst="rect">
            <a:avLst/>
          </a:prstGeom>
          <a:noFill/>
          <a:ln/>
        </p:spPr>
        <p:txBody>
          <a:bodyPr wrap="square" lIns="0" tIns="0" rIns="0" bIns="0" rtlCol="0" anchor="ctr"/>
          <a:lstStyle/>
          <a:p>
            <a:pPr marL="0" indent="0" algn="ctr">
              <a:buNone/>
            </a:pPr>
            <a:r>
              <a:rPr lang="en-US" sz="3000" b="1" dirty="0">
                <a:solidFill>
                  <a:srgbClr val="0E7C8B"/>
                </a:solidFill>
                <a:latin typeface="Consolas" pitchFamily="34" charset="0"/>
                <a:ea typeface="Consolas" pitchFamily="34" charset="-122"/>
                <a:cs typeface="Consolas" pitchFamily="34" charset="-120"/>
              </a:rPr>
              <a:t>IP</a:t>
            </a:r>
            <a:endParaRPr lang="en-US" sz="3000" dirty="0"/>
          </a:p>
        </p:txBody>
      </p:sp>
      <p:sp>
        <p:nvSpPr>
          <p:cNvPr id="10" name="Text 8"/>
          <p:cNvSpPr/>
          <p:nvPr/>
        </p:nvSpPr>
        <p:spPr>
          <a:xfrm>
            <a:off x="2542032" y="2971800"/>
            <a:ext cx="2020824" cy="365760"/>
          </a:xfrm>
          <a:prstGeom prst="rect">
            <a:avLst/>
          </a:prstGeom>
          <a:noFill/>
          <a:ln/>
        </p:spPr>
        <p:txBody>
          <a:bodyPr wrap="square" lIns="0" tIns="0" rIns="0" bIns="0"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Layer 3</a:t>
            </a:r>
            <a:endParaRPr lang="en-US" sz="1500" dirty="0"/>
          </a:p>
        </p:txBody>
      </p:sp>
      <p:sp>
        <p:nvSpPr>
          <p:cNvPr id="11" name="Text 9"/>
          <p:cNvSpPr/>
          <p:nvPr/>
        </p:nvSpPr>
        <p:spPr>
          <a:xfrm>
            <a:off x="2651760" y="3383280"/>
            <a:ext cx="1801368" cy="548640"/>
          </a:xfrm>
          <a:prstGeom prst="rect">
            <a:avLst/>
          </a:prstGeom>
          <a:noFill/>
          <a:ln/>
        </p:spPr>
        <p:txBody>
          <a:bodyPr wrap="square" lIns="0" tIns="0" rIns="0" bIns="0" rtlCol="0" anchor="ctr"/>
          <a:lstStyle/>
          <a:p>
            <a:pPr marL="0" indent="0" algn="ctr">
              <a:lnSpc>
                <a:spcPct val="105000"/>
              </a:lnSpc>
              <a:buNone/>
            </a:pPr>
            <a:r>
              <a:rPr lang="en-US" sz="1150" dirty="0">
                <a:solidFill>
                  <a:srgbClr val="5A6B7B"/>
                </a:solidFill>
                <a:latin typeface="Calibri" pitchFamily="34" charset="0"/>
                <a:ea typeface="Calibri" pitchFamily="34" charset="-122"/>
                <a:cs typeface="Calibri" pitchFamily="34" charset="-120"/>
              </a:rPr>
              <a:t>→ host (across networks)</a:t>
            </a:r>
            <a:endParaRPr lang="en-US" sz="1150" dirty="0"/>
          </a:p>
        </p:txBody>
      </p:sp>
      <p:sp>
        <p:nvSpPr>
          <p:cNvPr id="12" name="Shape 10"/>
          <p:cNvSpPr/>
          <p:nvPr/>
        </p:nvSpPr>
        <p:spPr>
          <a:xfrm>
            <a:off x="4581144" y="1920240"/>
            <a:ext cx="2020824" cy="2103120"/>
          </a:xfrm>
          <a:prstGeom prst="roundRect">
            <a:avLst>
              <a:gd name="adj" fmla="val 3620"/>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3" name="Text 11"/>
          <p:cNvSpPr/>
          <p:nvPr/>
        </p:nvSpPr>
        <p:spPr>
          <a:xfrm>
            <a:off x="4581144" y="2194560"/>
            <a:ext cx="2020824" cy="685800"/>
          </a:xfrm>
          <a:prstGeom prst="rect">
            <a:avLst/>
          </a:prstGeom>
          <a:noFill/>
          <a:ln/>
        </p:spPr>
        <p:txBody>
          <a:bodyPr wrap="square" lIns="0" tIns="0" rIns="0" bIns="0" rtlCol="0" anchor="ctr"/>
          <a:lstStyle/>
          <a:p>
            <a:pPr marL="0" indent="0" algn="ctr">
              <a:buNone/>
            </a:pPr>
            <a:r>
              <a:rPr lang="en-US" sz="3000" b="1" dirty="0">
                <a:solidFill>
                  <a:srgbClr val="0E7C8B"/>
                </a:solidFill>
                <a:latin typeface="Consolas" pitchFamily="34" charset="0"/>
                <a:ea typeface="Consolas" pitchFamily="34" charset="-122"/>
                <a:cs typeface="Consolas" pitchFamily="34" charset="-120"/>
              </a:rPr>
              <a:t>PORT</a:t>
            </a:r>
            <a:endParaRPr lang="en-US" sz="3000" dirty="0"/>
          </a:p>
        </p:txBody>
      </p:sp>
      <p:sp>
        <p:nvSpPr>
          <p:cNvPr id="14" name="Text 12"/>
          <p:cNvSpPr/>
          <p:nvPr/>
        </p:nvSpPr>
        <p:spPr>
          <a:xfrm>
            <a:off x="4581144" y="2971800"/>
            <a:ext cx="2020824" cy="365760"/>
          </a:xfrm>
          <a:prstGeom prst="rect">
            <a:avLst/>
          </a:prstGeom>
          <a:noFill/>
          <a:ln/>
        </p:spPr>
        <p:txBody>
          <a:bodyPr wrap="square" lIns="0" tIns="0" rIns="0" bIns="0"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Layer 4</a:t>
            </a:r>
            <a:endParaRPr lang="en-US" sz="1500" dirty="0"/>
          </a:p>
        </p:txBody>
      </p:sp>
      <p:sp>
        <p:nvSpPr>
          <p:cNvPr id="15" name="Text 13"/>
          <p:cNvSpPr/>
          <p:nvPr/>
        </p:nvSpPr>
        <p:spPr>
          <a:xfrm>
            <a:off x="4690872" y="3383280"/>
            <a:ext cx="1801368" cy="548640"/>
          </a:xfrm>
          <a:prstGeom prst="rect">
            <a:avLst/>
          </a:prstGeom>
          <a:noFill/>
          <a:ln/>
        </p:spPr>
        <p:txBody>
          <a:bodyPr wrap="square" lIns="0" tIns="0" rIns="0" bIns="0" rtlCol="0" anchor="ctr"/>
          <a:lstStyle/>
          <a:p>
            <a:pPr marL="0" indent="0" algn="ctr">
              <a:lnSpc>
                <a:spcPct val="105000"/>
              </a:lnSpc>
              <a:buNone/>
            </a:pPr>
            <a:r>
              <a:rPr lang="en-US" sz="1150" dirty="0">
                <a:solidFill>
                  <a:srgbClr val="5A6B7B"/>
                </a:solidFill>
                <a:latin typeface="Calibri" pitchFamily="34" charset="0"/>
                <a:ea typeface="Calibri" pitchFamily="34" charset="-122"/>
                <a:cs typeface="Calibri" pitchFamily="34" charset="-120"/>
              </a:rPr>
              <a:t>→ app (the service)</a:t>
            </a:r>
            <a:endParaRPr lang="en-US" sz="1150" dirty="0"/>
          </a:p>
        </p:txBody>
      </p:sp>
      <p:sp>
        <p:nvSpPr>
          <p:cNvPr id="16" name="Shape 14"/>
          <p:cNvSpPr/>
          <p:nvPr/>
        </p:nvSpPr>
        <p:spPr>
          <a:xfrm>
            <a:off x="6620256" y="1920240"/>
            <a:ext cx="2020824" cy="2103120"/>
          </a:xfrm>
          <a:prstGeom prst="roundRect">
            <a:avLst>
              <a:gd name="adj" fmla="val 3620"/>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7" name="Text 15"/>
          <p:cNvSpPr/>
          <p:nvPr/>
        </p:nvSpPr>
        <p:spPr>
          <a:xfrm>
            <a:off x="6620256" y="2194560"/>
            <a:ext cx="2020824" cy="685800"/>
          </a:xfrm>
          <a:prstGeom prst="rect">
            <a:avLst/>
          </a:prstGeom>
          <a:noFill/>
          <a:ln/>
        </p:spPr>
        <p:txBody>
          <a:bodyPr wrap="square" lIns="0" tIns="0" rIns="0" bIns="0" rtlCol="0" anchor="ctr"/>
          <a:lstStyle/>
          <a:p>
            <a:pPr marL="0" indent="0" algn="ctr">
              <a:buNone/>
            </a:pPr>
            <a:r>
              <a:rPr lang="en-US" sz="3000" b="1" dirty="0">
                <a:solidFill>
                  <a:srgbClr val="0E7C8B"/>
                </a:solidFill>
                <a:latin typeface="Consolas" pitchFamily="34" charset="0"/>
                <a:ea typeface="Consolas" pitchFamily="34" charset="-122"/>
                <a:cs typeface="Consolas" pitchFamily="34" charset="-120"/>
              </a:rPr>
              <a:t>DATA</a:t>
            </a:r>
            <a:endParaRPr lang="en-US" sz="3000" dirty="0"/>
          </a:p>
        </p:txBody>
      </p:sp>
      <p:sp>
        <p:nvSpPr>
          <p:cNvPr id="18" name="Text 16"/>
          <p:cNvSpPr/>
          <p:nvPr/>
        </p:nvSpPr>
        <p:spPr>
          <a:xfrm>
            <a:off x="6620256" y="2971800"/>
            <a:ext cx="2020824" cy="365760"/>
          </a:xfrm>
          <a:prstGeom prst="rect">
            <a:avLst/>
          </a:prstGeom>
          <a:noFill/>
          <a:ln/>
        </p:spPr>
        <p:txBody>
          <a:bodyPr wrap="square" lIns="0" tIns="0" rIns="0" bIns="0" rtlCol="0" anchor="ctr"/>
          <a:lstStyle/>
          <a:p>
            <a:pPr marL="0" indent="0" algn="ctr">
              <a:buNone/>
            </a:pPr>
            <a:r>
              <a:rPr lang="en-US" sz="1500" b="1" dirty="0">
                <a:solidFill>
                  <a:srgbClr val="0A1628"/>
                </a:solidFill>
                <a:latin typeface="Calibri" pitchFamily="34" charset="0"/>
                <a:ea typeface="Calibri" pitchFamily="34" charset="-122"/>
                <a:cs typeface="Calibri" pitchFamily="34" charset="-120"/>
              </a:rPr>
              <a:t>Payload</a:t>
            </a:r>
            <a:endParaRPr lang="en-US" sz="1500" dirty="0"/>
          </a:p>
        </p:txBody>
      </p:sp>
      <p:sp>
        <p:nvSpPr>
          <p:cNvPr id="19" name="Text 17"/>
          <p:cNvSpPr/>
          <p:nvPr/>
        </p:nvSpPr>
        <p:spPr>
          <a:xfrm>
            <a:off x="6729984" y="3383280"/>
            <a:ext cx="1801368" cy="548640"/>
          </a:xfrm>
          <a:prstGeom prst="rect">
            <a:avLst/>
          </a:prstGeom>
          <a:noFill/>
          <a:ln/>
        </p:spPr>
        <p:txBody>
          <a:bodyPr wrap="square" lIns="0" tIns="0" rIns="0" bIns="0" rtlCol="0" anchor="ctr"/>
          <a:lstStyle/>
          <a:p>
            <a:pPr marL="0" indent="0" algn="ctr">
              <a:lnSpc>
                <a:spcPct val="105000"/>
              </a:lnSpc>
              <a:buNone/>
            </a:pPr>
            <a:r>
              <a:rPr lang="en-US" sz="1150" dirty="0">
                <a:solidFill>
                  <a:srgbClr val="5A6B7B"/>
                </a:solidFill>
                <a:latin typeface="Calibri" pitchFamily="34" charset="0"/>
                <a:ea typeface="Calibri" pitchFamily="34" charset="-122"/>
                <a:cs typeface="Calibri" pitchFamily="34" charset="-120"/>
              </a:rPr>
              <a:t>→ your actual message</a:t>
            </a:r>
            <a:endParaRPr lang="en-US" sz="1150" dirty="0"/>
          </a:p>
        </p:txBody>
      </p:sp>
      <p:sp>
        <p:nvSpPr>
          <p:cNvPr id="20" name="Text 18"/>
          <p:cNvSpPr/>
          <p:nvPr/>
        </p:nvSpPr>
        <p:spPr>
          <a:xfrm>
            <a:off x="502920" y="4224528"/>
            <a:ext cx="8138160" cy="365760"/>
          </a:xfrm>
          <a:prstGeom prst="rect">
            <a:avLst/>
          </a:prstGeom>
          <a:noFill/>
          <a:ln/>
        </p:spPr>
        <p:txBody>
          <a:bodyPr wrap="square" lIns="0" tIns="0" rIns="0" bIns="0" rtlCol="0" anchor="ctr"/>
          <a:lstStyle/>
          <a:p>
            <a:pPr marL="0" indent="0" algn="ctr">
              <a:buNone/>
            </a:pPr>
            <a:r>
              <a:rPr lang="en-US" sz="1300" i="1" dirty="0">
                <a:solidFill>
                  <a:srgbClr val="127E8C"/>
                </a:solidFill>
                <a:latin typeface="Calibri" pitchFamily="34" charset="0"/>
                <a:ea typeface="Calibri" pitchFamily="34" charset="-122"/>
                <a:cs typeface="Calibri" pitchFamily="34" charset="-120"/>
              </a:rPr>
              <a:t>Read a packet outside-in: MAC, then IP, then port, then the data.   Device → host → app.</a:t>
            </a:r>
            <a:endParaRPr lang="en-US" sz="1300" dirty="0"/>
          </a:p>
        </p:txBody>
      </p:sp>
      <p:sp>
        <p:nvSpPr>
          <p:cNvPr id="21" name="Text 19"/>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2" name="Text 20"/>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TASK 8 OF 8 · MAKE THE CALL</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Solve the case</a:t>
            </a:r>
            <a:endParaRPr lang="en-US" sz="3600" dirty="0"/>
          </a:p>
        </p:txBody>
      </p:sp>
      <p:sp>
        <p:nvSpPr>
          <p:cNvPr id="4" name="Shape 2"/>
          <p:cNvSpPr/>
          <p:nvPr/>
        </p:nvSpPr>
        <p:spPr>
          <a:xfrm>
            <a:off x="7863840" y="457200"/>
            <a:ext cx="603504" cy="603504"/>
          </a:xfrm>
          <a:prstGeom prst="ellipse">
            <a:avLst/>
          </a:prstGeom>
          <a:solidFill>
            <a:srgbClr val="0A162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020751" y="614111"/>
            <a:ext cx="289682" cy="289682"/>
          </a:xfrm>
          <a:prstGeom prst="rect">
            <a:avLst/>
          </a:prstGeom>
        </p:spPr>
      </p:pic>
      <p:sp>
        <p:nvSpPr>
          <p:cNvPr id="6" name="Shape 3"/>
          <p:cNvSpPr/>
          <p:nvPr/>
        </p:nvSpPr>
        <p:spPr>
          <a:xfrm>
            <a:off x="502920" y="1828800"/>
            <a:ext cx="393192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7" name="Text 4"/>
          <p:cNvSpPr/>
          <p:nvPr/>
        </p:nvSpPr>
        <p:spPr>
          <a:xfrm>
            <a:off x="731520" y="2011680"/>
            <a:ext cx="3474720" cy="274320"/>
          </a:xfrm>
          <a:prstGeom prst="rect">
            <a:avLst/>
          </a:prstGeom>
          <a:noFill/>
          <a:ln/>
        </p:spPr>
        <p:txBody>
          <a:bodyPr wrap="square" lIns="0" tIns="0" rIns="0" bIns="0" rtlCol="0" anchor="ctr"/>
          <a:lstStyle/>
          <a:p>
            <a:pPr marL="0" indent="0">
              <a:buNone/>
            </a:pPr>
            <a:r>
              <a:rPr lang="en-US" sz="1100" b="1" kern="0" spc="150" dirty="0">
                <a:solidFill>
                  <a:srgbClr val="127E8C"/>
                </a:solidFill>
                <a:latin typeface="Calibri" pitchFamily="34" charset="0"/>
                <a:ea typeface="Calibri" pitchFamily="34" charset="-122"/>
                <a:cs typeface="Calibri" pitchFamily="34" charset="-120"/>
              </a:rPr>
              <a:t>DO THIS</a:t>
            </a:r>
            <a:endParaRPr lang="en-US" sz="1100" dirty="0"/>
          </a:p>
        </p:txBody>
      </p:sp>
      <p:sp>
        <p:nvSpPr>
          <p:cNvPr id="8" name="Text 5"/>
          <p:cNvSpPr/>
          <p:nvPr/>
        </p:nvSpPr>
        <p:spPr>
          <a:xfrm>
            <a:off x="731520" y="2331720"/>
            <a:ext cx="3520440" cy="1828800"/>
          </a:xfrm>
          <a:prstGeom prst="rect">
            <a:avLst/>
          </a:prstGeom>
          <a:noFill/>
          <a:ln/>
        </p:spPr>
        <p:txBody>
          <a:bodyPr wrap="square" lIns="0" tIns="0" rIns="0" bIns="0" rtlCol="0" anchor="t"/>
          <a:lstStyle/>
          <a:p>
            <a:pPr marL="0" indent="0">
              <a:lnSpc>
                <a:spcPct val="118000"/>
              </a:lnSpc>
              <a:buNone/>
            </a:pPr>
            <a:r>
              <a:rPr lang="en-US" sz="1400" dirty="0">
                <a:solidFill>
                  <a:srgbClr val="0A1628"/>
                </a:solidFill>
                <a:latin typeface="Calibri" pitchFamily="34" charset="0"/>
                <a:ea typeface="Calibri" pitchFamily="34" charset="-122"/>
                <a:cs typeface="Calibri" pitchFamily="34" charset="-120"/>
              </a:rPr>
              <a:t>Tap Solve the case. Using everything you found, choose what really happened and how the password leaked.</a:t>
            </a:r>
            <a:endParaRPr lang="en-US" sz="1400" dirty="0"/>
          </a:p>
        </p:txBody>
      </p:sp>
      <p:sp>
        <p:nvSpPr>
          <p:cNvPr id="9" name="Shape 6"/>
          <p:cNvSpPr/>
          <p:nvPr/>
        </p:nvSpPr>
        <p:spPr>
          <a:xfrm>
            <a:off x="4663440" y="1828800"/>
            <a:ext cx="3977640" cy="2468880"/>
          </a:xfrm>
          <a:prstGeom prst="roundRect">
            <a:avLst>
              <a:gd name="adj" fmla="val 296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4892040" y="2057400"/>
            <a:ext cx="457200" cy="457200"/>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10912" y="2176272"/>
            <a:ext cx="219456" cy="219456"/>
          </a:xfrm>
          <a:prstGeom prst="rect">
            <a:avLst/>
          </a:prstGeom>
        </p:spPr>
      </p:pic>
      <p:sp>
        <p:nvSpPr>
          <p:cNvPr id="12" name="Text 8"/>
          <p:cNvSpPr/>
          <p:nvPr/>
        </p:nvSpPr>
        <p:spPr>
          <a:xfrm>
            <a:off x="5440680" y="2075688"/>
            <a:ext cx="3017520" cy="411480"/>
          </a:xfrm>
          <a:prstGeom prst="rect">
            <a:avLst/>
          </a:prstGeom>
          <a:noFill/>
          <a:ln/>
        </p:spPr>
        <p:txBody>
          <a:bodyPr wrap="square" lIns="0" tIns="0" rIns="0" bIns="0" rtlCol="0" anchor="ctr"/>
          <a:lstStyle/>
          <a:p>
            <a:pPr marL="0" indent="0">
              <a:buNone/>
            </a:pPr>
            <a:r>
              <a:rPr lang="en-US" sz="1500" b="1" dirty="0">
                <a:solidFill>
                  <a:srgbClr val="0A1628"/>
                </a:solidFill>
                <a:latin typeface="Calibri" pitchFamily="34" charset="0"/>
                <a:ea typeface="Calibri" pitchFamily="34" charset="-122"/>
                <a:cs typeface="Calibri" pitchFamily="34" charset="-120"/>
              </a:rPr>
              <a:t>Name it, then fix it</a:t>
            </a:r>
            <a:endParaRPr lang="en-US" sz="1500" dirty="0"/>
          </a:p>
        </p:txBody>
      </p:sp>
      <p:sp>
        <p:nvSpPr>
          <p:cNvPr id="13" name="Text 9"/>
          <p:cNvSpPr/>
          <p:nvPr/>
        </p:nvSpPr>
        <p:spPr>
          <a:xfrm>
            <a:off x="4892040" y="2606040"/>
            <a:ext cx="3566160" cy="1554480"/>
          </a:xfrm>
          <a:prstGeom prst="rect">
            <a:avLst/>
          </a:prstGeom>
          <a:noFill/>
          <a:ln/>
        </p:spPr>
        <p:txBody>
          <a:bodyPr wrap="square" lIns="0" tIns="0" rIns="0" bIns="0" rtlCol="0" anchor="t"/>
          <a:lstStyle/>
          <a:p>
            <a:pPr marL="0" indent="0">
              <a:lnSpc>
                <a:spcPct val="112000"/>
              </a:lnSpc>
              <a:buNone/>
            </a:pPr>
            <a:r>
              <a:rPr lang="en-US" sz="1300" dirty="0">
                <a:solidFill>
                  <a:srgbClr val="5A6B7B"/>
                </a:solidFill>
                <a:latin typeface="Calibri" pitchFamily="34" charset="0"/>
                <a:ea typeface="Calibri" pitchFamily="34" charset="-122"/>
                <a:cs typeface="Calibri" pitchFamily="34" charset="-120"/>
              </a:rPr>
              <a:t>A bait domain resolved to an outside server, the laptop connected over plain HTTP, and the password went out in clear text. HTTPS would have hidden it.</a:t>
            </a:r>
            <a:endParaRPr lang="en-US" sz="1300" dirty="0"/>
          </a:p>
        </p:txBody>
      </p:sp>
      <p:sp>
        <p:nvSpPr>
          <p:cNvPr id="14" name="Text 10"/>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15" name="Text 11"/>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CASE CLOSED</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What the trace showed</a:t>
            </a:r>
            <a:endParaRPr lang="en-US" sz="3600" dirty="0"/>
          </a:p>
        </p:txBody>
      </p:sp>
      <p:sp>
        <p:nvSpPr>
          <p:cNvPr id="4" name="Shape 2"/>
          <p:cNvSpPr/>
          <p:nvPr/>
        </p:nvSpPr>
        <p:spPr>
          <a:xfrm>
            <a:off x="502920" y="1874520"/>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13232" y="1929384"/>
            <a:ext cx="457200" cy="457200"/>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32104" y="2048256"/>
            <a:ext cx="219456" cy="219456"/>
          </a:xfrm>
          <a:prstGeom prst="rect">
            <a:avLst/>
          </a:prstGeom>
        </p:spPr>
      </p:pic>
      <p:sp>
        <p:nvSpPr>
          <p:cNvPr id="7" name="Text 4"/>
          <p:cNvSpPr/>
          <p:nvPr/>
        </p:nvSpPr>
        <p:spPr>
          <a:xfrm>
            <a:off x="1371600" y="1874520"/>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1 · The bait   </a:t>
            </a:r>
            <a:r>
              <a:rPr lang="en-US" sz="1350" dirty="0">
                <a:solidFill>
                  <a:srgbClr val="5A6B7B"/>
                </a:solidFill>
                <a:latin typeface="Calibri" pitchFamily="34" charset="0"/>
                <a:ea typeface="Calibri" pitchFamily="34" charset="-122"/>
                <a:cs typeface="Calibri" pitchFamily="34" charset="-120"/>
              </a:rPr>
              <a:t>DNS resolved free-prize-login.tk to 185.220.101.42, a server out on the internet.</a:t>
            </a:r>
            <a:endParaRPr lang="en-US" sz="1350" dirty="0"/>
          </a:p>
        </p:txBody>
      </p:sp>
      <p:sp>
        <p:nvSpPr>
          <p:cNvPr id="8" name="Shape 5"/>
          <p:cNvSpPr/>
          <p:nvPr/>
        </p:nvSpPr>
        <p:spPr>
          <a:xfrm>
            <a:off x="502920" y="2587752"/>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9" name="Shape 6"/>
          <p:cNvSpPr/>
          <p:nvPr/>
        </p:nvSpPr>
        <p:spPr>
          <a:xfrm>
            <a:off x="713232" y="2642616"/>
            <a:ext cx="457200" cy="457200"/>
          </a:xfrm>
          <a:prstGeom prst="ellipse">
            <a:avLst/>
          </a:prstGeom>
          <a:solidFill>
            <a:srgbClr val="0A1628"/>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832104" y="2761488"/>
            <a:ext cx="219456" cy="219456"/>
          </a:xfrm>
          <a:prstGeom prst="rect">
            <a:avLst/>
          </a:prstGeom>
        </p:spPr>
      </p:pic>
      <p:sp>
        <p:nvSpPr>
          <p:cNvPr id="11" name="Text 7"/>
          <p:cNvSpPr/>
          <p:nvPr/>
        </p:nvSpPr>
        <p:spPr>
          <a:xfrm>
            <a:off x="1371600" y="2587752"/>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2 · The connection   </a:t>
            </a:r>
            <a:r>
              <a:rPr lang="en-US" sz="1350" dirty="0">
                <a:solidFill>
                  <a:srgbClr val="5A6B7B"/>
                </a:solidFill>
                <a:latin typeface="Calibri" pitchFamily="34" charset="0"/>
                <a:ea typeface="Calibri" pitchFamily="34" charset="-122"/>
                <a:cs typeface="Calibri" pitchFamily="34" charset="-120"/>
              </a:rPr>
              <a:t>the laptop opened plain HTTP on port 80 to that server, with no encryption.</a:t>
            </a:r>
            <a:endParaRPr lang="en-US" sz="1350" dirty="0"/>
          </a:p>
        </p:txBody>
      </p:sp>
      <p:sp>
        <p:nvSpPr>
          <p:cNvPr id="12" name="Shape 8"/>
          <p:cNvSpPr/>
          <p:nvPr/>
        </p:nvSpPr>
        <p:spPr>
          <a:xfrm>
            <a:off x="502920" y="3300984"/>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3" name="Shape 9"/>
          <p:cNvSpPr/>
          <p:nvPr/>
        </p:nvSpPr>
        <p:spPr>
          <a:xfrm>
            <a:off x="713232" y="3355848"/>
            <a:ext cx="457200" cy="457200"/>
          </a:xfrm>
          <a:prstGeom prst="ellipse">
            <a:avLst/>
          </a:prstGeom>
          <a:solidFill>
            <a:srgbClr val="0A1628"/>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32104" y="3474720"/>
            <a:ext cx="219456" cy="219456"/>
          </a:xfrm>
          <a:prstGeom prst="rect">
            <a:avLst/>
          </a:prstGeom>
        </p:spPr>
      </p:pic>
      <p:sp>
        <p:nvSpPr>
          <p:cNvPr id="15" name="Text 10"/>
          <p:cNvSpPr/>
          <p:nvPr/>
        </p:nvSpPr>
        <p:spPr>
          <a:xfrm>
            <a:off x="1371600" y="3300984"/>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3 · The leak   </a:t>
            </a:r>
            <a:r>
              <a:rPr lang="en-US" sz="1350" dirty="0">
                <a:solidFill>
                  <a:srgbClr val="5A6B7B"/>
                </a:solidFill>
                <a:latin typeface="Calibri" pitchFamily="34" charset="0"/>
                <a:ea typeface="Calibri" pitchFamily="34" charset="-122"/>
                <a:cs typeface="Calibri" pitchFamily="34" charset="-120"/>
              </a:rPr>
              <a:t>a POST sent the username and password in clear text for anyone on the path to read.</a:t>
            </a:r>
            <a:endParaRPr lang="en-US" sz="1350" dirty="0"/>
          </a:p>
        </p:txBody>
      </p:sp>
      <p:sp>
        <p:nvSpPr>
          <p:cNvPr id="16" name="Shape 11"/>
          <p:cNvSpPr/>
          <p:nvPr/>
        </p:nvSpPr>
        <p:spPr>
          <a:xfrm>
            <a:off x="502920" y="4014216"/>
            <a:ext cx="8138160" cy="566928"/>
          </a:xfrm>
          <a:prstGeom prst="roundRect">
            <a:avLst>
              <a:gd name="adj" fmla="val 12903"/>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7" name="Shape 12"/>
          <p:cNvSpPr/>
          <p:nvPr/>
        </p:nvSpPr>
        <p:spPr>
          <a:xfrm>
            <a:off x="713232" y="4069080"/>
            <a:ext cx="457200" cy="457200"/>
          </a:xfrm>
          <a:prstGeom prst="ellipse">
            <a:avLst/>
          </a:prstGeom>
          <a:solidFill>
            <a:srgbClr val="0A1628"/>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832104" y="4187952"/>
            <a:ext cx="219456" cy="219456"/>
          </a:xfrm>
          <a:prstGeom prst="rect">
            <a:avLst/>
          </a:prstGeom>
        </p:spPr>
      </p:pic>
      <p:sp>
        <p:nvSpPr>
          <p:cNvPr id="19" name="Text 13"/>
          <p:cNvSpPr/>
          <p:nvPr/>
        </p:nvSpPr>
        <p:spPr>
          <a:xfrm>
            <a:off x="1371600" y="4014216"/>
            <a:ext cx="7132320" cy="566928"/>
          </a:xfrm>
          <a:prstGeom prst="rect">
            <a:avLst/>
          </a:prstGeom>
          <a:noFill/>
          <a:ln/>
        </p:spPr>
        <p:txBody>
          <a:bodyPr wrap="square" lIns="0" tIns="0" rIns="0" bIns="0" rtlCol="0" anchor="ctr"/>
          <a:lstStyle/>
          <a:p>
            <a:pPr marL="0" indent="0">
              <a:lnSpc>
                <a:spcPct val="105000"/>
              </a:lnSpc>
              <a:buNone/>
            </a:pPr>
            <a:r>
              <a:rPr lang="en-US" sz="1350" b="1" dirty="0">
                <a:solidFill>
                  <a:srgbClr val="0A1628"/>
                </a:solidFill>
                <a:latin typeface="Calibri" pitchFamily="34" charset="0"/>
                <a:ea typeface="Calibri" pitchFamily="34" charset="-122"/>
                <a:cs typeface="Calibri" pitchFamily="34" charset="-120"/>
              </a:rPr>
              <a:t>4 · The fix   </a:t>
            </a:r>
            <a:r>
              <a:rPr lang="en-US" sz="1350" dirty="0">
                <a:solidFill>
                  <a:srgbClr val="5A6B7B"/>
                </a:solidFill>
                <a:latin typeface="Calibri" pitchFamily="34" charset="0"/>
                <a:ea typeface="Calibri" pitchFamily="34" charset="-122"/>
                <a:cs typeface="Calibri" pitchFamily="34" charset="-120"/>
              </a:rPr>
              <a:t>over HTTPS on port 443 the same data would have been scrambled and safe.</a:t>
            </a:r>
            <a:endParaRPr lang="en-US" sz="1350" dirty="0"/>
          </a:p>
        </p:txBody>
      </p:sp>
      <p:sp>
        <p:nvSpPr>
          <p:cNvPr id="20" name="Text 1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1" name="Text 1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21208" y="868680"/>
            <a:ext cx="6400800" cy="320040"/>
          </a:xfrm>
          <a:prstGeom prst="rect">
            <a:avLst/>
          </a:prstGeom>
          <a:noFill/>
          <a:ln/>
        </p:spPr>
        <p:txBody>
          <a:bodyPr wrap="square" lIns="0" tIns="0" rIns="0" bIns="0" rtlCol="0" anchor="ctr"/>
          <a:lstStyle/>
          <a:p>
            <a:pPr marL="0" indent="0">
              <a:buNone/>
            </a:pPr>
            <a:r>
              <a:rPr lang="en-US" sz="1300" b="1" kern="0" spc="250" dirty="0">
                <a:solidFill>
                  <a:srgbClr val="22C7E0"/>
                </a:solidFill>
                <a:latin typeface="Calibri" pitchFamily="34" charset="0"/>
                <a:ea typeface="Calibri" pitchFamily="34" charset="-122"/>
                <a:cs typeface="Calibri" pitchFamily="34" charset="-120"/>
              </a:rPr>
              <a:t>THE BIG IDEA</a:t>
            </a:r>
            <a:endParaRPr lang="en-US" sz="1300" dirty="0"/>
          </a:p>
        </p:txBody>
      </p:sp>
      <p:sp>
        <p:nvSpPr>
          <p:cNvPr id="3" name="Text 1"/>
          <p:cNvSpPr/>
          <p:nvPr/>
        </p:nvSpPr>
        <p:spPr>
          <a:xfrm>
            <a:off x="475488" y="1371600"/>
            <a:ext cx="7498080" cy="219456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The only difference between a safe login and a leaked one was a single letter: the S in HTTPS.</a:t>
            </a:r>
            <a:endParaRPr lang="en-US" sz="3400" dirty="0"/>
          </a:p>
        </p:txBody>
      </p:sp>
      <p:sp>
        <p:nvSpPr>
          <p:cNvPr id="4" name="Text 2"/>
          <p:cNvSpPr/>
          <p:nvPr/>
        </p:nvSpPr>
        <p:spPr>
          <a:xfrm>
            <a:off x="502920" y="3977640"/>
            <a:ext cx="7863840" cy="640080"/>
          </a:xfrm>
          <a:prstGeom prst="rect">
            <a:avLst/>
          </a:prstGeom>
          <a:noFill/>
          <a:ln/>
        </p:spPr>
        <p:txBody>
          <a:bodyPr wrap="square" lIns="0" tIns="0" rIns="0" bIns="0" rtlCol="0" anchor="ctr"/>
          <a:lstStyle/>
          <a:p>
            <a:pPr marL="0" indent="0">
              <a:buNone/>
            </a:pPr>
            <a:r>
              <a:rPr lang="en-US" sz="1500" i="1" dirty="0">
                <a:solidFill>
                  <a:srgbClr val="22C7E0"/>
                </a:solidFill>
                <a:latin typeface="Calibri" pitchFamily="34" charset="0"/>
                <a:ea typeface="Calibri" pitchFamily="34" charset="-122"/>
                <a:cs typeface="Calibri" pitchFamily="34" charset="-120"/>
              </a:rPr>
              <a:t>Encryption turns readable data into nonsense for everyone but the right server.</a:t>
            </a:r>
            <a:endParaRPr lang="en-US" sz="1500" dirty="0"/>
          </a:p>
        </p:txBody>
      </p:sp>
      <p:sp>
        <p:nvSpPr>
          <p:cNvPr id="5" name="Shape 3"/>
          <p:cNvSpPr/>
          <p:nvPr/>
        </p:nvSpPr>
        <p:spPr>
          <a:xfrm>
            <a:off x="7589520" y="502920"/>
            <a:ext cx="777240" cy="777240"/>
          </a:xfrm>
          <a:prstGeom prst="ellipse">
            <a:avLst/>
          </a:prstGeom>
          <a:solidFill>
            <a:srgbClr val="22C7E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91602" y="705002"/>
            <a:ext cx="373075" cy="373075"/>
          </a:xfrm>
          <a:prstGeom prst="rect">
            <a:avLst/>
          </a:prstGeom>
        </p:spPr>
      </p:pic>
      <p:sp>
        <p:nvSpPr>
          <p:cNvPr id="7" name="Text 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8" name="Text 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DEBRIEF · TALK IT OUT</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Discuss with your partner</a:t>
            </a:r>
            <a:endParaRPr lang="en-US" sz="3600" dirty="0"/>
          </a:p>
        </p:txBody>
      </p:sp>
      <p:sp>
        <p:nvSpPr>
          <p:cNvPr id="4" name="Shape 2"/>
          <p:cNvSpPr/>
          <p:nvPr/>
        </p:nvSpPr>
        <p:spPr>
          <a:xfrm>
            <a:off x="50292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58952" y="2194560"/>
            <a:ext cx="566928" cy="566928"/>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6353" y="2341961"/>
            <a:ext cx="272125" cy="272125"/>
          </a:xfrm>
          <a:prstGeom prst="rect">
            <a:avLst/>
          </a:prstGeom>
        </p:spPr>
      </p:pic>
      <p:sp>
        <p:nvSpPr>
          <p:cNvPr id="7" name="Text 4"/>
          <p:cNvSpPr/>
          <p:nvPr/>
        </p:nvSpPr>
        <p:spPr>
          <a:xfrm>
            <a:off x="75895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The tell</a:t>
            </a:r>
            <a:endParaRPr lang="en-US" sz="1600" dirty="0"/>
          </a:p>
        </p:txBody>
      </p:sp>
      <p:sp>
        <p:nvSpPr>
          <p:cNvPr id="8" name="Text 5"/>
          <p:cNvSpPr/>
          <p:nvPr/>
        </p:nvSpPr>
        <p:spPr>
          <a:xfrm>
            <a:off x="75895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which single packet proved the password leaked, and why?</a:t>
            </a:r>
            <a:endParaRPr lang="en-US" sz="1250" dirty="0"/>
          </a:p>
        </p:txBody>
      </p:sp>
      <p:sp>
        <p:nvSpPr>
          <p:cNvPr id="9" name="Shape 6"/>
          <p:cNvSpPr/>
          <p:nvPr/>
        </p:nvSpPr>
        <p:spPr>
          <a:xfrm>
            <a:off x="330647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3562502" y="2194560"/>
            <a:ext cx="566928" cy="566928"/>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3709904" y="2341961"/>
            <a:ext cx="272125" cy="272125"/>
          </a:xfrm>
          <a:prstGeom prst="rect">
            <a:avLst/>
          </a:prstGeom>
        </p:spPr>
      </p:pic>
      <p:sp>
        <p:nvSpPr>
          <p:cNvPr id="12" name="Text 8"/>
          <p:cNvSpPr/>
          <p:nvPr/>
        </p:nvSpPr>
        <p:spPr>
          <a:xfrm>
            <a:off x="356250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Defense</a:t>
            </a:r>
            <a:endParaRPr lang="en-US" sz="1600" dirty="0"/>
          </a:p>
        </p:txBody>
      </p:sp>
      <p:sp>
        <p:nvSpPr>
          <p:cNvPr id="13" name="Text 9"/>
          <p:cNvSpPr/>
          <p:nvPr/>
        </p:nvSpPr>
        <p:spPr>
          <a:xfrm>
            <a:off x="356250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what one change would have kept that password secret?</a:t>
            </a:r>
            <a:endParaRPr lang="en-US" sz="1250" dirty="0"/>
          </a:p>
        </p:txBody>
      </p:sp>
      <p:sp>
        <p:nvSpPr>
          <p:cNvPr id="14" name="Shape 10"/>
          <p:cNvSpPr/>
          <p:nvPr/>
        </p:nvSpPr>
        <p:spPr>
          <a:xfrm>
            <a:off x="6110021"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5" name="Shape 11"/>
          <p:cNvSpPr/>
          <p:nvPr/>
        </p:nvSpPr>
        <p:spPr>
          <a:xfrm>
            <a:off x="6366053" y="2194560"/>
            <a:ext cx="566928" cy="566928"/>
          </a:xfrm>
          <a:prstGeom prst="ellipse">
            <a:avLst/>
          </a:prstGeom>
          <a:solidFill>
            <a:srgbClr val="0A1628"/>
          </a:solidFill>
          <a:ln/>
        </p:spPr>
        <p:txBody>
          <a:bodyPr/>
          <a:lstStyle/>
          <a:p>
            <a:endParaRPr lang="en-US"/>
          </a:p>
        </p:txBody>
      </p:sp>
      <p:pic>
        <p:nvPicPr>
          <p:cNvPr id="16" name="Image 2" descr="preencoded.png"/>
          <p:cNvPicPr>
            <a:picLocks noChangeAspect="1"/>
          </p:cNvPicPr>
          <p:nvPr/>
        </p:nvPicPr>
        <p:blipFill>
          <a:blip r:embed="rId3"/>
          <a:stretch>
            <a:fillRect/>
          </a:stretch>
        </p:blipFill>
        <p:spPr>
          <a:xfrm>
            <a:off x="6513454" y="2341961"/>
            <a:ext cx="272125" cy="272125"/>
          </a:xfrm>
          <a:prstGeom prst="rect">
            <a:avLst/>
          </a:prstGeom>
        </p:spPr>
      </p:pic>
      <p:sp>
        <p:nvSpPr>
          <p:cNvPr id="17" name="Text 12"/>
          <p:cNvSpPr/>
          <p:nvPr/>
        </p:nvSpPr>
        <p:spPr>
          <a:xfrm>
            <a:off x="6366053"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Real world</a:t>
            </a:r>
            <a:endParaRPr lang="en-US" sz="1600" dirty="0"/>
          </a:p>
        </p:txBody>
      </p:sp>
      <p:sp>
        <p:nvSpPr>
          <p:cNvPr id="18" name="Text 13"/>
          <p:cNvSpPr/>
          <p:nvPr/>
        </p:nvSpPr>
        <p:spPr>
          <a:xfrm>
            <a:off x="6366053"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how can you tell HTTP from HTTPS in your own browser?</a:t>
            </a:r>
            <a:endParaRPr lang="en-US" sz="1250" dirty="0"/>
          </a:p>
        </p:txBody>
      </p:sp>
      <p:sp>
        <p:nvSpPr>
          <p:cNvPr id="19" name="Text 1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0" name="Text 1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6FB"/>
        </a:solidFill>
        <a:effectLst/>
      </p:bgPr>
    </p:bg>
    <p:spTree>
      <p:nvGrpSpPr>
        <p:cNvPr id="1" name=""/>
        <p:cNvGrpSpPr/>
        <p:nvPr/>
      </p:nvGrpSpPr>
      <p:grpSpPr>
        <a:xfrm>
          <a:off x="0" y="0"/>
          <a:ext cx="0" cy="0"/>
          <a:chOff x="0" y="0"/>
          <a:chExt cx="0" cy="0"/>
        </a:xfrm>
      </p:grpSpPr>
      <p:sp>
        <p:nvSpPr>
          <p:cNvPr id="2" name="Text 0"/>
          <p:cNvSpPr/>
          <p:nvPr/>
        </p:nvSpPr>
        <p:spPr>
          <a:xfrm>
            <a:off x="502920" y="475488"/>
            <a:ext cx="8138160" cy="274320"/>
          </a:xfrm>
          <a:prstGeom prst="rect">
            <a:avLst/>
          </a:prstGeom>
          <a:noFill/>
          <a:ln/>
        </p:spPr>
        <p:txBody>
          <a:bodyPr wrap="square" lIns="0" tIns="0" rIns="0" bIns="0" rtlCol="0" anchor="ctr"/>
          <a:lstStyle/>
          <a:p>
            <a:pPr marL="0" indent="0" algn="l">
              <a:buNone/>
            </a:pPr>
            <a:r>
              <a:rPr lang="en-US" sz="1250" b="1" kern="0" spc="200" dirty="0">
                <a:solidFill>
                  <a:srgbClr val="127E8C"/>
                </a:solidFill>
                <a:latin typeface="Calibri" pitchFamily="34" charset="0"/>
                <a:ea typeface="Calibri" pitchFamily="34" charset="-122"/>
                <a:cs typeface="Calibri" pitchFamily="34" charset="-120"/>
              </a:rPr>
              <a:t>GO FURTHER AT HOME</a:t>
            </a:r>
            <a:endParaRPr lang="en-US" sz="1250" dirty="0"/>
          </a:p>
        </p:txBody>
      </p:sp>
      <p:sp>
        <p:nvSpPr>
          <p:cNvPr id="3" name="Text 1"/>
          <p:cNvSpPr/>
          <p:nvPr/>
        </p:nvSpPr>
        <p:spPr>
          <a:xfrm>
            <a:off x="475488" y="768096"/>
            <a:ext cx="8183880" cy="868680"/>
          </a:xfrm>
          <a:prstGeom prst="rect">
            <a:avLst/>
          </a:prstGeom>
          <a:noFill/>
          <a:ln/>
        </p:spPr>
        <p:txBody>
          <a:bodyPr wrap="square" lIns="0" tIns="0" rIns="0" bIns="0" rtlCol="0" anchor="t"/>
          <a:lstStyle/>
          <a:p>
            <a:pPr marL="0" indent="0" algn="l">
              <a:buNone/>
            </a:pPr>
            <a:r>
              <a:rPr lang="en-US" sz="3600" b="1" dirty="0">
                <a:solidFill>
                  <a:srgbClr val="0A1628"/>
                </a:solidFill>
                <a:latin typeface="Cambria" pitchFamily="34" charset="0"/>
                <a:ea typeface="Cambria" pitchFamily="34" charset="-122"/>
                <a:cs typeface="Cambria" pitchFamily="34" charset="-120"/>
              </a:rPr>
              <a:t>Try the real thing</a:t>
            </a:r>
            <a:endParaRPr lang="en-US" sz="3600" dirty="0"/>
          </a:p>
        </p:txBody>
      </p:sp>
      <p:sp>
        <p:nvSpPr>
          <p:cNvPr id="4" name="Shape 2"/>
          <p:cNvSpPr/>
          <p:nvPr/>
        </p:nvSpPr>
        <p:spPr>
          <a:xfrm>
            <a:off x="50292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5" name="Shape 3"/>
          <p:cNvSpPr/>
          <p:nvPr/>
        </p:nvSpPr>
        <p:spPr>
          <a:xfrm>
            <a:off x="758952" y="2194560"/>
            <a:ext cx="566928" cy="566928"/>
          </a:xfrm>
          <a:prstGeom prst="ellipse">
            <a:avLst/>
          </a:prstGeom>
          <a:solidFill>
            <a:srgbClr val="0A162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6353" y="2341961"/>
            <a:ext cx="272125" cy="272125"/>
          </a:xfrm>
          <a:prstGeom prst="rect">
            <a:avLst/>
          </a:prstGeom>
        </p:spPr>
      </p:pic>
      <p:sp>
        <p:nvSpPr>
          <p:cNvPr id="7" name="Text 4"/>
          <p:cNvSpPr/>
          <p:nvPr/>
        </p:nvSpPr>
        <p:spPr>
          <a:xfrm>
            <a:off x="75895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Real Wireshark</a:t>
            </a:r>
            <a:endParaRPr lang="en-US" sz="1600" dirty="0"/>
          </a:p>
        </p:txBody>
      </p:sp>
      <p:sp>
        <p:nvSpPr>
          <p:cNvPr id="8" name="Text 5"/>
          <p:cNvSpPr/>
          <p:nvPr/>
        </p:nvSpPr>
        <p:spPr>
          <a:xfrm>
            <a:off x="75895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free at wireshark.org. Open a sample capture and explore real traffic the way you did today.</a:t>
            </a:r>
            <a:endParaRPr lang="en-US" sz="1250" dirty="0"/>
          </a:p>
        </p:txBody>
      </p:sp>
      <p:sp>
        <p:nvSpPr>
          <p:cNvPr id="9" name="Shape 6"/>
          <p:cNvSpPr/>
          <p:nvPr/>
        </p:nvSpPr>
        <p:spPr>
          <a:xfrm>
            <a:off x="3306470"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0" name="Shape 7"/>
          <p:cNvSpPr/>
          <p:nvPr/>
        </p:nvSpPr>
        <p:spPr>
          <a:xfrm>
            <a:off x="3562502" y="2194560"/>
            <a:ext cx="566928" cy="566928"/>
          </a:xfrm>
          <a:prstGeom prst="ellipse">
            <a:avLst/>
          </a:prstGeom>
          <a:solidFill>
            <a:srgbClr val="0A162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709904" y="2341961"/>
            <a:ext cx="272125" cy="272125"/>
          </a:xfrm>
          <a:prstGeom prst="rect">
            <a:avLst/>
          </a:prstGeom>
        </p:spPr>
      </p:pic>
      <p:sp>
        <p:nvSpPr>
          <p:cNvPr id="12" name="Text 8"/>
          <p:cNvSpPr/>
          <p:nvPr/>
        </p:nvSpPr>
        <p:spPr>
          <a:xfrm>
            <a:off x="3562502"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See your own path</a:t>
            </a:r>
            <a:endParaRPr lang="en-US" sz="1600" dirty="0"/>
          </a:p>
        </p:txBody>
      </p:sp>
      <p:sp>
        <p:nvSpPr>
          <p:cNvPr id="13" name="Text 9"/>
          <p:cNvSpPr/>
          <p:nvPr/>
        </p:nvSpPr>
        <p:spPr>
          <a:xfrm>
            <a:off x="3562502"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look up your public IP, or run tracert to watch your data hop across the internet.</a:t>
            </a:r>
            <a:endParaRPr lang="en-US" sz="1250" dirty="0"/>
          </a:p>
        </p:txBody>
      </p:sp>
      <p:sp>
        <p:nvSpPr>
          <p:cNvPr id="14" name="Shape 10"/>
          <p:cNvSpPr/>
          <p:nvPr/>
        </p:nvSpPr>
        <p:spPr>
          <a:xfrm>
            <a:off x="6110021" y="1920240"/>
            <a:ext cx="2529230" cy="2514600"/>
          </a:xfrm>
          <a:prstGeom prst="roundRect">
            <a:avLst>
              <a:gd name="adj" fmla="val 2909"/>
            </a:avLst>
          </a:prstGeom>
          <a:solidFill>
            <a:srgbClr val="FFFFFF"/>
          </a:solidFill>
          <a:ln/>
          <a:effectLst>
            <a:outerShdw blurRad="114300" dist="38100" dir="5400000" algn="bl" rotWithShape="0">
              <a:srgbClr val="0A1628">
                <a:alpha val="12000"/>
              </a:srgbClr>
            </a:outerShdw>
          </a:effectLst>
        </p:spPr>
        <p:txBody>
          <a:bodyPr/>
          <a:lstStyle/>
          <a:p>
            <a:endParaRPr lang="en-US"/>
          </a:p>
        </p:txBody>
      </p:sp>
      <p:sp>
        <p:nvSpPr>
          <p:cNvPr id="15" name="Shape 11"/>
          <p:cNvSpPr/>
          <p:nvPr/>
        </p:nvSpPr>
        <p:spPr>
          <a:xfrm>
            <a:off x="6366053" y="2194560"/>
            <a:ext cx="566928" cy="566928"/>
          </a:xfrm>
          <a:prstGeom prst="ellipse">
            <a:avLst/>
          </a:prstGeom>
          <a:solidFill>
            <a:srgbClr val="0A162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513454" y="2341961"/>
            <a:ext cx="272125" cy="272125"/>
          </a:xfrm>
          <a:prstGeom prst="rect">
            <a:avLst/>
          </a:prstGeom>
        </p:spPr>
      </p:pic>
      <p:sp>
        <p:nvSpPr>
          <p:cNvPr id="17" name="Text 12"/>
          <p:cNvSpPr/>
          <p:nvPr/>
        </p:nvSpPr>
        <p:spPr>
          <a:xfrm>
            <a:off x="6366053" y="2880360"/>
            <a:ext cx="2072030" cy="457200"/>
          </a:xfrm>
          <a:prstGeom prst="rect">
            <a:avLst/>
          </a:prstGeom>
          <a:noFill/>
          <a:ln/>
        </p:spPr>
        <p:txBody>
          <a:bodyPr wrap="square" lIns="0" tIns="0" rIns="0" bIns="0" rtlCol="0" anchor="t"/>
          <a:lstStyle/>
          <a:p>
            <a:pPr marL="0" indent="0">
              <a:buNone/>
            </a:pPr>
            <a:r>
              <a:rPr lang="en-US" sz="1600" b="1" dirty="0">
                <a:solidFill>
                  <a:srgbClr val="0A1628"/>
                </a:solidFill>
                <a:latin typeface="Calibri" pitchFamily="34" charset="0"/>
                <a:ea typeface="Calibri" pitchFamily="34" charset="-122"/>
                <a:cs typeface="Calibri" pitchFamily="34" charset="-120"/>
              </a:rPr>
              <a:t>picoCTF</a:t>
            </a:r>
            <a:endParaRPr lang="en-US" sz="1600" dirty="0"/>
          </a:p>
        </p:txBody>
      </p:sp>
      <p:sp>
        <p:nvSpPr>
          <p:cNvPr id="18" name="Text 13"/>
          <p:cNvSpPr/>
          <p:nvPr/>
        </p:nvSpPr>
        <p:spPr>
          <a:xfrm>
            <a:off x="6366053" y="3337560"/>
            <a:ext cx="2072030" cy="960120"/>
          </a:xfrm>
          <a:prstGeom prst="rect">
            <a:avLst/>
          </a:prstGeom>
          <a:noFill/>
          <a:ln/>
        </p:spPr>
        <p:txBody>
          <a:bodyPr wrap="square" lIns="0" tIns="0" rIns="0" bIns="0" rtlCol="0" anchor="t"/>
          <a:lstStyle/>
          <a:p>
            <a:pPr marL="0" indent="0">
              <a:lnSpc>
                <a:spcPct val="112000"/>
              </a:lnSpc>
              <a:buNone/>
            </a:pPr>
            <a:r>
              <a:rPr lang="en-US" sz="1250" dirty="0">
                <a:solidFill>
                  <a:srgbClr val="5A6B7B"/>
                </a:solidFill>
                <a:latin typeface="Calibri" pitchFamily="34" charset="0"/>
                <a:ea typeface="Calibri" pitchFamily="34" charset="-122"/>
                <a:cs typeface="Calibri" pitchFamily="34" charset="-120"/>
              </a:rPr>
              <a:t>free browser challenges with a networking track. A great next step after today.</a:t>
            </a:r>
            <a:endParaRPr lang="en-US" sz="1250" dirty="0"/>
          </a:p>
        </p:txBody>
      </p:sp>
      <p:sp>
        <p:nvSpPr>
          <p:cNvPr id="19" name="Text 1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20" name="Text 1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21208" y="868680"/>
            <a:ext cx="6400800" cy="320040"/>
          </a:xfrm>
          <a:prstGeom prst="rect">
            <a:avLst/>
          </a:prstGeom>
          <a:noFill/>
          <a:ln/>
        </p:spPr>
        <p:txBody>
          <a:bodyPr wrap="square" lIns="0" tIns="0" rIns="0" bIns="0" rtlCol="0" anchor="ctr"/>
          <a:lstStyle/>
          <a:p>
            <a:pPr marL="0" indent="0">
              <a:buNone/>
            </a:pPr>
            <a:r>
              <a:rPr lang="en-US" sz="1300" b="1" kern="0" spc="250" dirty="0">
                <a:solidFill>
                  <a:srgbClr val="22C7E0"/>
                </a:solidFill>
                <a:latin typeface="Calibri" pitchFamily="34" charset="0"/>
                <a:ea typeface="Calibri" pitchFamily="34" charset="-122"/>
                <a:cs typeface="Calibri" pitchFamily="34" charset="-120"/>
              </a:rPr>
              <a:t>NICE WORK</a:t>
            </a:r>
            <a:endParaRPr lang="en-US" sz="1300" dirty="0"/>
          </a:p>
        </p:txBody>
      </p:sp>
      <p:sp>
        <p:nvSpPr>
          <p:cNvPr id="3" name="Text 1"/>
          <p:cNvSpPr/>
          <p:nvPr/>
        </p:nvSpPr>
        <p:spPr>
          <a:xfrm>
            <a:off x="475488" y="1371600"/>
            <a:ext cx="7498080" cy="2194560"/>
          </a:xfrm>
          <a:prstGeom prst="rect">
            <a:avLst/>
          </a:prstGeom>
          <a:noFill/>
          <a:ln/>
        </p:spPr>
        <p:txBody>
          <a:bodyPr wrap="square" lIns="0" tIns="0" rIns="0" bIns="0"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You read real packet structure, told encrypted from plain text, drew the subnet line, and cracked the case. That is network forensics.</a:t>
            </a:r>
            <a:endParaRPr lang="en-US" sz="3400" dirty="0"/>
          </a:p>
        </p:txBody>
      </p:sp>
      <p:sp>
        <p:nvSpPr>
          <p:cNvPr id="4" name="Text 2"/>
          <p:cNvSpPr/>
          <p:nvPr/>
        </p:nvSpPr>
        <p:spPr>
          <a:xfrm>
            <a:off x="502920" y="3977640"/>
            <a:ext cx="7863840" cy="640080"/>
          </a:xfrm>
          <a:prstGeom prst="rect">
            <a:avLst/>
          </a:prstGeom>
          <a:noFill/>
          <a:ln/>
        </p:spPr>
        <p:txBody>
          <a:bodyPr wrap="square" lIns="0" tIns="0" rIns="0" bIns="0" rtlCol="0" anchor="ctr"/>
          <a:lstStyle/>
          <a:p>
            <a:pPr marL="0" indent="0">
              <a:buNone/>
            </a:pPr>
            <a:r>
              <a:rPr lang="en-US" sz="1500" i="1" dirty="0">
                <a:solidFill>
                  <a:srgbClr val="22C7E0"/>
                </a:solidFill>
                <a:latin typeface="Calibri" pitchFamily="34" charset="0"/>
                <a:ea typeface="Calibri" pitchFamily="34" charset="-122"/>
                <a:cs typeface="Calibri" pitchFamily="34" charset="-120"/>
              </a:rPr>
              <a:t>Questions?</a:t>
            </a:r>
            <a:endParaRPr lang="en-US" sz="1500" dirty="0"/>
          </a:p>
        </p:txBody>
      </p:sp>
      <p:sp>
        <p:nvSpPr>
          <p:cNvPr id="5" name="Shape 3"/>
          <p:cNvSpPr/>
          <p:nvPr/>
        </p:nvSpPr>
        <p:spPr>
          <a:xfrm>
            <a:off x="7589520" y="502920"/>
            <a:ext cx="777240" cy="777240"/>
          </a:xfrm>
          <a:prstGeom prst="ellipse">
            <a:avLst/>
          </a:prstGeom>
          <a:solidFill>
            <a:srgbClr val="22C7E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91602" y="705002"/>
            <a:ext cx="373075" cy="373075"/>
          </a:xfrm>
          <a:prstGeom prst="rect">
            <a:avLst/>
          </a:prstGeom>
        </p:spPr>
      </p:pic>
      <p:sp>
        <p:nvSpPr>
          <p:cNvPr id="7" name="Text 4"/>
          <p:cNvSpPr/>
          <p:nvPr/>
        </p:nvSpPr>
        <p:spPr>
          <a:xfrm>
            <a:off x="502920" y="4828032"/>
            <a:ext cx="7680960" cy="274320"/>
          </a:xfrm>
          <a:prstGeom prst="rect">
            <a:avLst/>
          </a:prstGeom>
          <a:noFill/>
          <a:ln/>
        </p:spPr>
        <p:txBody>
          <a:bodyPr wrap="square" lIns="0" tIns="0" rIns="0" bIns="0" rtlCol="0" anchor="ctr"/>
          <a:lstStyle/>
          <a:p>
            <a:pPr marL="0" indent="0" algn="l">
              <a:buNone/>
            </a:pPr>
            <a:r>
              <a:rPr lang="en-US" sz="950" dirty="0">
                <a:solidFill>
                  <a:srgbClr val="5A6B7B"/>
                </a:solidFill>
                <a:latin typeface="Consolas" pitchFamily="34" charset="0"/>
                <a:ea typeface="Consolas" pitchFamily="34" charset="-122"/>
                <a:cs typeface="Consolas" pitchFamily="34" charset="-120"/>
              </a:rPr>
              <a:t>&gt;</a:t>
            </a:r>
            <a:r>
              <a:rPr lang="en-US" sz="950" dirty="0">
                <a:solidFill>
                  <a:srgbClr val="22C7E0"/>
                </a:solidFill>
                <a:latin typeface="Consolas" pitchFamily="34" charset="0"/>
                <a:ea typeface="Consolas" pitchFamily="34" charset="-122"/>
                <a:cs typeface="Consolas" pitchFamily="34" charset="-120"/>
              </a:rPr>
              <a:t>_  </a:t>
            </a:r>
            <a:r>
              <a:rPr lang="en-US" sz="950" dirty="0">
                <a:solidFill>
                  <a:srgbClr val="5A6B7B"/>
                </a:solidFill>
                <a:latin typeface="Consolas" pitchFamily="34" charset="0"/>
                <a:ea typeface="Consolas" pitchFamily="34" charset="-122"/>
                <a:cs typeface="Consolas" pitchFamily="34" charset="-120"/>
              </a:rPr>
              <a:t>Internet Detective · Networking Lab</a:t>
            </a:r>
            <a:endParaRPr lang="en-US" sz="950" dirty="0"/>
          </a:p>
        </p:txBody>
      </p:sp>
      <p:sp>
        <p:nvSpPr>
          <p:cNvPr id="8" name="Text 5"/>
          <p:cNvSpPr/>
          <p:nvPr/>
        </p:nvSpPr>
        <p:spPr>
          <a:xfrm>
            <a:off x="8229600" y="4828032"/>
            <a:ext cx="411480" cy="274320"/>
          </a:xfrm>
          <a:prstGeom prst="rect">
            <a:avLst/>
          </a:prstGeom>
          <a:noFill/>
          <a:ln/>
        </p:spPr>
        <p:txBody>
          <a:bodyPr wrap="square" lIns="0" tIns="0" rIns="0" bIns="0" rtlCol="0" anchor="ctr"/>
          <a:lstStyle/>
          <a:p>
            <a:pPr marL="0" indent="0" algn="r">
              <a:buNone/>
            </a:pPr>
            <a:r>
              <a:rPr lang="en-US" sz="950" dirty="0">
                <a:solidFill>
                  <a:srgbClr val="5A6B7B"/>
                </a:solidFill>
                <a:latin typeface="Consolas" pitchFamily="34" charset="0"/>
                <a:ea typeface="Consolas" pitchFamily="34" charset="-122"/>
                <a:cs typeface="Consolas" pitchFamily="34" charset="-120"/>
              </a:rPr>
              <a:t>20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2088</Words>
  <Application>Microsoft Macintosh PowerPoint</Application>
  <PresentationFormat>On-screen Show (16:9)</PresentationFormat>
  <Paragraphs>204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Detective — Networking Lab</dc:title>
  <dc:subject>PptxGenJS Presentation</dc:subject>
  <dc:creator>CS4CS</dc:creator>
  <cp:lastModifiedBy>Varsha Kumbenahally Roopeshkumar</cp:lastModifiedBy>
  <cp:revision>2</cp:revision>
  <dcterms:created xsi:type="dcterms:W3CDTF">2026-06-24T21:33:12Z</dcterms:created>
  <dcterms:modified xsi:type="dcterms:W3CDTF">2026-06-25T04:21:48Z</dcterms:modified>
</cp:coreProperties>
</file>